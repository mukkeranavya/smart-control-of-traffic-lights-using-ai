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3"/>
  </p:sldMasterIdLst>
  <p:notesMasterIdLst>
    <p:notesMasterId r:id="rId22"/>
  </p:notesMasterIdLst>
  <p:handoutMasterIdLst>
    <p:handoutMasterId r:id="rId23"/>
  </p:handoutMasterIdLst>
  <p:sldIdLst>
    <p:sldId id="256" r:id="rId4"/>
    <p:sldId id="276" r:id="rId5"/>
    <p:sldId id="269" r:id="rId6"/>
    <p:sldId id="270" r:id="rId7"/>
    <p:sldId id="271" r:id="rId8"/>
    <p:sldId id="257" r:id="rId9"/>
    <p:sldId id="260" r:id="rId10"/>
    <p:sldId id="261" r:id="rId11"/>
    <p:sldId id="264" r:id="rId12"/>
    <p:sldId id="262" r:id="rId13"/>
    <p:sldId id="274" r:id="rId14"/>
    <p:sldId id="275" r:id="rId15"/>
    <p:sldId id="263" r:id="rId16"/>
    <p:sldId id="265" r:id="rId17"/>
    <p:sldId id="266" r:id="rId18"/>
    <p:sldId id="268" r:id="rId19"/>
    <p:sldId id="259" r:id="rId20"/>
    <p:sldId id="277" r:id="rId21"/>
  </p:sldIdLst>
  <p:sldSz cx="9144000" cy="6858000" type="screen4x3"/>
  <p:notesSz cx="6858000" cy="9144000"/>
  <p:defaultTextStyle>
    <a:defPPr>
      <a:defRPr lang="ru-RU"/>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5482B"/>
    <a:srgbClr val="C75806"/>
    <a:srgbClr val="00499F"/>
    <a:srgbClr val="0CC1E0"/>
    <a:srgbClr val="1B00FE"/>
    <a:srgbClr val="4F2129"/>
    <a:srgbClr val="1C1C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47" autoAdjust="0"/>
    <p:restoredTop sz="94648"/>
  </p:normalViewPr>
  <p:slideViewPr>
    <p:cSldViewPr>
      <p:cViewPr varScale="1">
        <p:scale>
          <a:sx n="82" d="100"/>
          <a:sy n="82" d="100"/>
        </p:scale>
        <p:origin x="13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notesMaster" Target="notesMasters/notes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96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00"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96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endPar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endPar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endPar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endPar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endPar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96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96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39EF70C9-F3F7-4295-8B87-E67DB0031604}" type="slidenum">
              <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ru-RU" altLang="ru-RU"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1619250" y="2997200"/>
            <a:ext cx="5905500" cy="1511300"/>
          </a:xfrm>
          <a:ln>
            <a:noFill/>
          </a:ln>
          <a:effectLst/>
        </p:spPr>
        <p:txBody>
          <a:bodyPr/>
          <a:lstStyle>
            <a:lvl1pPr algn="ctr">
              <a:defRPr>
                <a:solidFill>
                  <a:schemeClr val="tx2"/>
                </a:solidFill>
              </a:defRPr>
            </a:lvl1pPr>
          </a:lstStyle>
          <a:p>
            <a:pPr lvl="0"/>
            <a:r>
              <a:rPr lang="en-US" altLang="ru-RU" noProof="0"/>
              <a:t>Click to edit Master title style</a:t>
            </a:r>
            <a:endParaRPr lang="ru-RU" altLang="ru-RU" noProof="0"/>
          </a:p>
        </p:txBody>
      </p:sp>
      <p:sp>
        <p:nvSpPr>
          <p:cNvPr id="5123" name="Rectangle 3"/>
          <p:cNvSpPr>
            <a:spLocks noGrp="1" noChangeArrowheads="1"/>
          </p:cNvSpPr>
          <p:nvPr>
            <p:ph type="subTitle" idx="1"/>
          </p:nvPr>
        </p:nvSpPr>
        <p:spPr>
          <a:xfrm>
            <a:off x="1619250" y="4581525"/>
            <a:ext cx="5905500" cy="503238"/>
          </a:xfrm>
          <a:ln>
            <a:noFill/>
          </a:ln>
          <a:effectLst/>
        </p:spPr>
        <p:txBody>
          <a:bodyPr/>
          <a:lstStyle>
            <a:lvl1pPr marL="0" indent="0" algn="ctr">
              <a:buFontTx/>
              <a:buNone/>
              <a:defRPr>
                <a:solidFill>
                  <a:schemeClr val="tx2"/>
                </a:solidFill>
              </a:defRPr>
            </a:lvl1pPr>
          </a:lstStyle>
          <a:p>
            <a:pPr lvl="0"/>
            <a:r>
              <a:rPr lang="en-US" altLang="ru-RU" noProof="0"/>
              <a:t>Click to edit Master subtitle style</a:t>
            </a:r>
            <a:endParaRPr lang="ru-RU" altLang="ru-RU" noProof="0"/>
          </a:p>
        </p:txBody>
      </p:sp>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ru-R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sz="half" idx="1"/>
          </p:nvPr>
        </p:nvSpPr>
        <p:spPr>
          <a:xfrm>
            <a:off x="468313" y="1844675"/>
            <a:ext cx="4027487" cy="3889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4" name="Content Placeholder 3"/>
          <p:cNvSpPr>
            <a:spLocks noGrp="1"/>
          </p:cNvSpPr>
          <p:nvPr>
            <p:ph sz="half" idx="2"/>
          </p:nvPr>
        </p:nvSpPr>
        <p:spPr>
          <a:xfrm>
            <a:off x="4648200" y="1844675"/>
            <a:ext cx="4027488" cy="3889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ru-R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ru-R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ru-RU"/>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en-US" sz="3200" b="0" i="0" u="none" strike="noStrike" kern="0" cap="none" spc="0" normalizeH="0" baseline="0" noProof="0">
                <a:ln>
                  <a:noFill/>
                </a:ln>
                <a:solidFill>
                  <a:schemeClr val="tx1"/>
                </a:solidFill>
                <a:effectLst/>
                <a:uLnTx/>
                <a:uFillTx/>
                <a:latin typeface="+mn-lt"/>
                <a:ea typeface="+mn-ea"/>
                <a:cs typeface="+mn-cs"/>
              </a:rPr>
              <a:t>Click icon to add picture</a:t>
            </a:r>
            <a:endParaRPr kumimoji="0" lang="ru-RU" sz="3200" b="0" i="0" u="none" strike="noStrike" kern="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4638" y="260350"/>
            <a:ext cx="2051050" cy="5473700"/>
          </a:xfrm>
        </p:spPr>
        <p:txBody>
          <a:bodyPr vert="eaVert"/>
          <a:lstStyle/>
          <a:p>
            <a:r>
              <a:rPr lang="en-US"/>
              <a:t>Click to edit Master title style</a:t>
            </a:r>
            <a:endParaRPr lang="ru-RU"/>
          </a:p>
        </p:txBody>
      </p:sp>
      <p:sp>
        <p:nvSpPr>
          <p:cNvPr id="3" name="Vertical Text Placeholder 2"/>
          <p:cNvSpPr>
            <a:spLocks noGrp="1"/>
          </p:cNvSpPr>
          <p:nvPr>
            <p:ph type="body" orient="vert" idx="1"/>
          </p:nvPr>
        </p:nvSpPr>
        <p:spPr>
          <a:xfrm>
            <a:off x="468313" y="260350"/>
            <a:ext cx="6003925" cy="54737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ru-R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ru-RU"/>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ru-R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Content Placeholder 2"/>
          <p:cNvSpPr>
            <a:spLocks noGrp="1"/>
          </p:cNvSpPr>
          <p:nvPr>
            <p:ph sz="half" idx="1"/>
          </p:nvPr>
        </p:nvSpPr>
        <p:spPr>
          <a:xfrm>
            <a:off x="1908175" y="1600200"/>
            <a:ext cx="3313113"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4" name="Content Placeholder 3"/>
          <p:cNvSpPr>
            <a:spLocks noGrp="1"/>
          </p:cNvSpPr>
          <p:nvPr>
            <p:ph sz="half" idx="2"/>
          </p:nvPr>
        </p:nvSpPr>
        <p:spPr>
          <a:xfrm>
            <a:off x="5373688" y="1600200"/>
            <a:ext cx="331311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ru-R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ru-R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ru-RU"/>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ru-RU" sz="3200" b="0" i="0" u="none" strike="noStrike" kern="0" cap="none" spc="0" normalizeH="0" baseline="0" noProof="0">
              <a:ln>
                <a:noFill/>
              </a:ln>
              <a:solidFill>
                <a:srgbClr val="1C1C1C"/>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2938" y="260350"/>
            <a:ext cx="1693862" cy="5865813"/>
          </a:xfrm>
        </p:spPr>
        <p:txBody>
          <a:bodyPr vert="eaVert"/>
          <a:lstStyle/>
          <a:p>
            <a:r>
              <a:rPr lang="en-US"/>
              <a:t>Click to edit Master title style</a:t>
            </a:r>
            <a:endParaRPr lang="ru-RU"/>
          </a:p>
        </p:txBody>
      </p:sp>
      <p:sp>
        <p:nvSpPr>
          <p:cNvPr id="3" name="Vertical Text Placeholder 2"/>
          <p:cNvSpPr>
            <a:spLocks noGrp="1"/>
          </p:cNvSpPr>
          <p:nvPr>
            <p:ph type="body" orient="vert" idx="1"/>
          </p:nvPr>
        </p:nvSpPr>
        <p:spPr>
          <a:xfrm>
            <a:off x="1908175" y="260350"/>
            <a:ext cx="4932363" cy="5865813"/>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ru-RU"/>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image" Target="../media/image3.jpeg"/><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68313" y="260350"/>
            <a:ext cx="8207375" cy="1155700"/>
          </a:xfrm>
          <a:prstGeom prst="rect">
            <a:avLst/>
          </a:prstGeom>
          <a:noFill/>
          <a:ln w="9525">
            <a:noFill/>
          </a:ln>
        </p:spPr>
        <p:txBody>
          <a:bodyPr anchor="ctr" anchorCtr="0"/>
          <a:lstStyle/>
          <a:p>
            <a:pPr lvl="0"/>
            <a:r>
              <a:rPr lang="en-US" altLang="ru-RU" dirty="0"/>
              <a:t>Click to edit Master title style</a:t>
            </a:r>
            <a:endParaRPr lang="ru-RU" altLang="ru-RU" dirty="0"/>
          </a:p>
        </p:txBody>
      </p:sp>
      <p:sp>
        <p:nvSpPr>
          <p:cNvPr id="1027" name="Rectangle 3"/>
          <p:cNvSpPr>
            <a:spLocks noGrp="1"/>
          </p:cNvSpPr>
          <p:nvPr>
            <p:ph type="body" idx="1"/>
          </p:nvPr>
        </p:nvSpPr>
        <p:spPr>
          <a:xfrm>
            <a:off x="468313" y="1844675"/>
            <a:ext cx="8207375" cy="3889375"/>
          </a:xfrm>
          <a:prstGeom prst="rect">
            <a:avLst/>
          </a:prstGeom>
          <a:noFill/>
          <a:ln w="9525">
            <a:noFill/>
          </a:ln>
        </p:spPr>
        <p:txBody>
          <a:bodyPr/>
          <a:lstStyle/>
          <a:p>
            <a:pPr lvl="0"/>
            <a:r>
              <a:rPr lang="en-US" altLang="ru-RU" dirty="0"/>
              <a:t>Click to edit Master text styles</a:t>
            </a:r>
            <a:endParaRPr lang="en-US" altLang="ru-RU" dirty="0"/>
          </a:p>
          <a:p>
            <a:pPr lvl="1"/>
            <a:r>
              <a:rPr lang="en-US" altLang="ru-RU" dirty="0"/>
              <a:t>Second level</a:t>
            </a:r>
            <a:endParaRPr lang="en-US" altLang="ru-RU" dirty="0"/>
          </a:p>
          <a:p>
            <a:pPr lvl="2"/>
            <a:r>
              <a:rPr lang="en-US" altLang="ru-RU" dirty="0"/>
              <a:t>Third level</a:t>
            </a:r>
            <a:endParaRPr lang="en-US" altLang="ru-RU" dirty="0"/>
          </a:p>
          <a:p>
            <a:pPr lvl="3"/>
            <a:r>
              <a:rPr lang="en-US" altLang="ru-RU" dirty="0"/>
              <a:t>Fourth level</a:t>
            </a:r>
            <a:endParaRPr lang="en-US" altLang="ru-RU" dirty="0"/>
          </a:p>
          <a:p>
            <a:pPr lvl="4"/>
            <a:r>
              <a:rPr lang="en-US" altLang="ru-RU" dirty="0"/>
              <a:t>Fifth level</a:t>
            </a:r>
            <a:endParaRPr lang="ru-RU" altLang="ru-RU" dirty="0"/>
          </a:p>
        </p:txBody>
      </p:sp>
      <p:sp>
        <p:nvSpPr>
          <p:cNvPr id="1035" name="Rectangle 11"/>
          <p:cNvSpPr>
            <a:spLocks noGrp="1" noChangeArrowheads="1"/>
          </p:cNvSpPr>
          <p:nvPr>
            <p:ph type="dt" sz="half" idx="2"/>
          </p:nvPr>
        </p:nvSpPr>
        <p:spPr bwMode="auto">
          <a:xfrm>
            <a:off x="457200" y="6453188"/>
            <a:ext cx="21336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900" b="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1036" name="Rectangle 12"/>
          <p:cNvSpPr>
            <a:spLocks noGrp="1" noChangeArrowheads="1"/>
          </p:cNvSpPr>
          <p:nvPr>
            <p:ph type="ftr" sz="quarter" idx="3"/>
          </p:nvPr>
        </p:nvSpPr>
        <p:spPr bwMode="auto">
          <a:xfrm>
            <a:off x="3124200" y="6453188"/>
            <a:ext cx="28956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900" b="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1037" name="Rectangle 13"/>
          <p:cNvSpPr>
            <a:spLocks noGrp="1" noChangeArrowheads="1"/>
          </p:cNvSpPr>
          <p:nvPr>
            <p:ph type="sldNum" sz="quarter" idx="4"/>
          </p:nvPr>
        </p:nvSpPr>
        <p:spPr bwMode="auto">
          <a:xfrm>
            <a:off x="6553200" y="6453188"/>
            <a:ext cx="21336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900" b="0">
                <a:solidFill>
                  <a:schemeClr val="tx1"/>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75F2890-4702-4416-83C1-57FBBFEA007C}" type="slidenum">
              <a:rPr kumimoji="0" lang="en-GB"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rtl="0" eaLnBrk="1" fontAlgn="base" hangingPunct="1">
        <a:spcBef>
          <a:spcPct val="0"/>
        </a:spcBef>
        <a:spcAft>
          <a:spcPct val="0"/>
        </a:spcAft>
        <a:defRPr sz="3200">
          <a:solidFill>
            <a:schemeClr val="tx2"/>
          </a:solidFill>
          <a:latin typeface="+mj-lt"/>
          <a:ea typeface="+mj-ea"/>
          <a:cs typeface="+mj-cs"/>
        </a:defRPr>
      </a:lvl1pPr>
      <a:lvl2pPr algn="l" rtl="0" eaLnBrk="1" fontAlgn="base" hangingPunct="1">
        <a:spcBef>
          <a:spcPct val="0"/>
        </a:spcBef>
        <a:spcAft>
          <a:spcPct val="0"/>
        </a:spcAft>
        <a:defRPr sz="3200">
          <a:solidFill>
            <a:srgbClr val="601010"/>
          </a:solidFill>
          <a:latin typeface="Georgia" panose="02040502050405020303" pitchFamily="18" charset="0"/>
        </a:defRPr>
      </a:lvl2pPr>
      <a:lvl3pPr algn="l" rtl="0" eaLnBrk="1" fontAlgn="base" hangingPunct="1">
        <a:spcBef>
          <a:spcPct val="0"/>
        </a:spcBef>
        <a:spcAft>
          <a:spcPct val="0"/>
        </a:spcAft>
        <a:defRPr sz="3200">
          <a:solidFill>
            <a:srgbClr val="601010"/>
          </a:solidFill>
          <a:latin typeface="Georgia" panose="02040502050405020303" pitchFamily="18" charset="0"/>
        </a:defRPr>
      </a:lvl3pPr>
      <a:lvl4pPr algn="l" rtl="0" eaLnBrk="1" fontAlgn="base" hangingPunct="1">
        <a:spcBef>
          <a:spcPct val="0"/>
        </a:spcBef>
        <a:spcAft>
          <a:spcPct val="0"/>
        </a:spcAft>
        <a:defRPr sz="3200">
          <a:solidFill>
            <a:srgbClr val="601010"/>
          </a:solidFill>
          <a:latin typeface="Georgia" panose="02040502050405020303" pitchFamily="18" charset="0"/>
        </a:defRPr>
      </a:lvl4pPr>
      <a:lvl5pPr algn="l" rtl="0" eaLnBrk="1" fontAlgn="base" hangingPunct="1">
        <a:spcBef>
          <a:spcPct val="0"/>
        </a:spcBef>
        <a:spcAft>
          <a:spcPct val="0"/>
        </a:spcAft>
        <a:defRPr sz="3200">
          <a:solidFill>
            <a:srgbClr val="601010"/>
          </a:solidFill>
          <a:latin typeface="Georgia" panose="02040502050405020303" pitchFamily="18" charset="0"/>
        </a:defRPr>
      </a:lvl5pPr>
      <a:lvl6pPr marL="457200" algn="l" rtl="0" eaLnBrk="1" fontAlgn="base" hangingPunct="1">
        <a:spcBef>
          <a:spcPct val="0"/>
        </a:spcBef>
        <a:spcAft>
          <a:spcPct val="0"/>
        </a:spcAft>
        <a:defRPr sz="3200">
          <a:solidFill>
            <a:srgbClr val="601010"/>
          </a:solidFill>
          <a:latin typeface="Georgia" panose="02040502050405020303" pitchFamily="18" charset="0"/>
        </a:defRPr>
      </a:lvl6pPr>
      <a:lvl7pPr marL="914400" algn="l" rtl="0" eaLnBrk="1" fontAlgn="base" hangingPunct="1">
        <a:spcBef>
          <a:spcPct val="0"/>
        </a:spcBef>
        <a:spcAft>
          <a:spcPct val="0"/>
        </a:spcAft>
        <a:defRPr sz="3200">
          <a:solidFill>
            <a:srgbClr val="601010"/>
          </a:solidFill>
          <a:latin typeface="Georgia" panose="02040502050405020303" pitchFamily="18" charset="0"/>
        </a:defRPr>
      </a:lvl7pPr>
      <a:lvl8pPr marL="1371600" algn="l" rtl="0" eaLnBrk="1" fontAlgn="base" hangingPunct="1">
        <a:spcBef>
          <a:spcPct val="0"/>
        </a:spcBef>
        <a:spcAft>
          <a:spcPct val="0"/>
        </a:spcAft>
        <a:defRPr sz="3200">
          <a:solidFill>
            <a:srgbClr val="601010"/>
          </a:solidFill>
          <a:latin typeface="Georgia" panose="02040502050405020303" pitchFamily="18" charset="0"/>
        </a:defRPr>
      </a:lvl8pPr>
      <a:lvl9pPr marL="1828800" algn="l" rtl="0" eaLnBrk="1" fontAlgn="base" hangingPunct="1">
        <a:spcBef>
          <a:spcPct val="0"/>
        </a:spcBef>
        <a:spcAft>
          <a:spcPct val="0"/>
        </a:spcAft>
        <a:defRPr sz="3200">
          <a:solidFill>
            <a:srgbClr val="601010"/>
          </a:solidFill>
          <a:latin typeface="Georgia" panose="02040502050405020303" pitchFamily="18" charset="0"/>
        </a:defRPr>
      </a:lvl9pPr>
    </p:titleStyle>
    <p:bodyStyle>
      <a:lvl1pPr marL="342900" indent="-342900" algn="l" rtl="0" eaLnBrk="1" fontAlgn="base" hangingPunct="1">
        <a:spcBef>
          <a:spcPct val="20000"/>
        </a:spcBef>
        <a:spcAft>
          <a:spcPct val="0"/>
        </a:spcAft>
        <a:buChar char="•"/>
        <a:defRPr sz="20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0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rgbClr val="1C1C1C"/>
          </a:solidFill>
          <a:latin typeface="+mn-lt"/>
        </a:defRPr>
      </a:lvl6pPr>
      <a:lvl7pPr marL="2971800" indent="-228600" algn="l" rtl="0" eaLnBrk="1" fontAlgn="base" hangingPunct="1">
        <a:spcBef>
          <a:spcPct val="20000"/>
        </a:spcBef>
        <a:spcAft>
          <a:spcPct val="0"/>
        </a:spcAft>
        <a:buChar char="»"/>
        <a:defRPr sz="2000">
          <a:solidFill>
            <a:srgbClr val="1C1C1C"/>
          </a:solidFill>
          <a:latin typeface="+mn-lt"/>
        </a:defRPr>
      </a:lvl7pPr>
      <a:lvl8pPr marL="3429000" indent="-228600" algn="l" rtl="0" eaLnBrk="1" fontAlgn="base" hangingPunct="1">
        <a:spcBef>
          <a:spcPct val="20000"/>
        </a:spcBef>
        <a:spcAft>
          <a:spcPct val="0"/>
        </a:spcAft>
        <a:buChar char="»"/>
        <a:defRPr sz="2000">
          <a:solidFill>
            <a:srgbClr val="1C1C1C"/>
          </a:solidFill>
          <a:latin typeface="+mn-lt"/>
        </a:defRPr>
      </a:lvl8pPr>
      <a:lvl9pPr marL="3886200" indent="-228600" algn="l" rtl="0" eaLnBrk="1" fontAlgn="base" hangingPunct="1">
        <a:spcBef>
          <a:spcPct val="20000"/>
        </a:spcBef>
        <a:spcAft>
          <a:spcPct val="0"/>
        </a:spcAft>
        <a:buChar char="»"/>
        <a:defRPr sz="2000">
          <a:solidFill>
            <a:srgbClr val="1C1C1C"/>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1908175" y="260350"/>
            <a:ext cx="6767513" cy="1143000"/>
          </a:xfrm>
          <a:prstGeom prst="rect">
            <a:avLst/>
          </a:prstGeom>
          <a:noFill/>
          <a:ln w="9525">
            <a:noFill/>
          </a:ln>
        </p:spPr>
        <p:txBody>
          <a:bodyPr anchor="ctr" anchorCtr="0"/>
          <a:lstStyle/>
          <a:p>
            <a:pPr lvl="0"/>
            <a:r>
              <a:rPr lang="ru-RU" altLang="ru-RU" dirty="0"/>
              <a:t>Click to edit Master title style</a:t>
            </a:r>
            <a:endParaRPr lang="ru-RU" altLang="ru-RU" dirty="0"/>
          </a:p>
        </p:txBody>
      </p:sp>
      <p:sp>
        <p:nvSpPr>
          <p:cNvPr id="2051" name="Rectangle 3"/>
          <p:cNvSpPr>
            <a:spLocks noGrp="1"/>
          </p:cNvSpPr>
          <p:nvPr>
            <p:ph type="body" idx="1"/>
          </p:nvPr>
        </p:nvSpPr>
        <p:spPr>
          <a:xfrm>
            <a:off x="1908175" y="1600200"/>
            <a:ext cx="6778625" cy="4525963"/>
          </a:xfrm>
          <a:prstGeom prst="rect">
            <a:avLst/>
          </a:prstGeom>
          <a:noFill/>
          <a:ln w="9525">
            <a:noFill/>
          </a:ln>
        </p:spPr>
        <p:txBody>
          <a:bodyPr/>
          <a:lstStyle/>
          <a:p>
            <a:pPr lvl="0"/>
            <a:r>
              <a:rPr lang="ru-RU" altLang="ru-RU" dirty="0"/>
              <a:t>Click to edit Master text styles</a:t>
            </a:r>
            <a:endParaRPr lang="ru-RU" altLang="ru-RU" dirty="0"/>
          </a:p>
          <a:p>
            <a:pPr lvl="1"/>
            <a:r>
              <a:rPr lang="ru-RU" altLang="ru-RU" dirty="0"/>
              <a:t>Second level</a:t>
            </a:r>
            <a:endParaRPr lang="ru-RU" altLang="ru-RU" dirty="0"/>
          </a:p>
          <a:p>
            <a:pPr lvl="2"/>
            <a:r>
              <a:rPr lang="ru-RU" altLang="ru-RU" dirty="0"/>
              <a:t>Third level</a:t>
            </a:r>
            <a:endParaRPr lang="ru-RU" altLang="ru-RU" dirty="0"/>
          </a:p>
          <a:p>
            <a:pPr lvl="3"/>
            <a:r>
              <a:rPr lang="ru-RU" altLang="ru-RU" dirty="0"/>
              <a:t>Fourth level</a:t>
            </a:r>
            <a:endParaRPr lang="ru-RU" altLang="ru-RU" dirty="0"/>
          </a:p>
          <a:p>
            <a:pPr lvl="4"/>
            <a:r>
              <a:rPr lang="ru-RU" altLang="ru-RU" dirty="0"/>
              <a:t>Fifth level</a:t>
            </a:r>
            <a:endParaRPr lang="ru-RU" altLang="ru-RU" dirty="0"/>
          </a:p>
        </p:txBody>
      </p:sp>
      <p:sp>
        <p:nvSpPr>
          <p:cNvPr id="190468" name="Rectangle 4"/>
          <p:cNvSpPr>
            <a:spLocks noGrp="1" noChangeArrowheads="1"/>
          </p:cNvSpPr>
          <p:nvPr>
            <p:ph type="dt" sz="half" idx="2"/>
          </p:nvPr>
        </p:nvSpPr>
        <p:spPr bwMode="auto">
          <a:xfrm>
            <a:off x="457200" y="6453188"/>
            <a:ext cx="2133600"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900" b="0">
                <a:solidFill>
                  <a:srgbClr val="1C1C1C"/>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190469" name="Rectangle 5"/>
          <p:cNvSpPr>
            <a:spLocks noGrp="1" noChangeArrowheads="1"/>
          </p:cNvSpPr>
          <p:nvPr>
            <p:ph type="ftr" sz="quarter" idx="3"/>
          </p:nvPr>
        </p:nvSpPr>
        <p:spPr bwMode="auto">
          <a:xfrm>
            <a:off x="3124200" y="6453188"/>
            <a:ext cx="2895600"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900" b="0">
                <a:solidFill>
                  <a:srgbClr val="1C1C1C"/>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190470" name="Rectangle 6"/>
          <p:cNvSpPr>
            <a:spLocks noGrp="1" noChangeArrowheads="1"/>
          </p:cNvSpPr>
          <p:nvPr>
            <p:ph type="sldNum" sz="quarter" idx="4"/>
          </p:nvPr>
        </p:nvSpPr>
        <p:spPr bwMode="auto">
          <a:xfrm>
            <a:off x="6553200" y="6453188"/>
            <a:ext cx="2133600" cy="268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900" b="0">
                <a:solidFill>
                  <a:srgbClr val="1C1C1C"/>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B0A92F4-E498-4542-A6E5-AD0BFAF101AF}"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p:txStyles>
    <p:titleStyle>
      <a:lvl1pPr algn="l" rtl="0" fontAlgn="base">
        <a:spcBef>
          <a:spcPct val="0"/>
        </a:spcBef>
        <a:spcAft>
          <a:spcPct val="0"/>
        </a:spcAft>
        <a:defRPr sz="3200">
          <a:solidFill>
            <a:srgbClr val="000000"/>
          </a:solidFill>
          <a:latin typeface="+mj-lt"/>
          <a:ea typeface="+mj-ea"/>
          <a:cs typeface="+mj-cs"/>
        </a:defRPr>
      </a:lvl1pPr>
      <a:lvl2pPr algn="l" rtl="0" fontAlgn="base">
        <a:spcBef>
          <a:spcPct val="0"/>
        </a:spcBef>
        <a:spcAft>
          <a:spcPct val="0"/>
        </a:spcAft>
        <a:defRPr sz="3200">
          <a:solidFill>
            <a:srgbClr val="601010"/>
          </a:solidFill>
          <a:latin typeface="Georgia" panose="02040502050405020303" pitchFamily="18" charset="0"/>
        </a:defRPr>
      </a:lvl2pPr>
      <a:lvl3pPr algn="l" rtl="0" fontAlgn="base">
        <a:spcBef>
          <a:spcPct val="0"/>
        </a:spcBef>
        <a:spcAft>
          <a:spcPct val="0"/>
        </a:spcAft>
        <a:defRPr sz="3200">
          <a:solidFill>
            <a:srgbClr val="601010"/>
          </a:solidFill>
          <a:latin typeface="Georgia" panose="02040502050405020303" pitchFamily="18" charset="0"/>
        </a:defRPr>
      </a:lvl3pPr>
      <a:lvl4pPr algn="l" rtl="0" fontAlgn="base">
        <a:spcBef>
          <a:spcPct val="0"/>
        </a:spcBef>
        <a:spcAft>
          <a:spcPct val="0"/>
        </a:spcAft>
        <a:defRPr sz="3200">
          <a:solidFill>
            <a:srgbClr val="601010"/>
          </a:solidFill>
          <a:latin typeface="Georgia" panose="02040502050405020303" pitchFamily="18" charset="0"/>
        </a:defRPr>
      </a:lvl4pPr>
      <a:lvl5pPr algn="l" rtl="0" fontAlgn="base">
        <a:spcBef>
          <a:spcPct val="0"/>
        </a:spcBef>
        <a:spcAft>
          <a:spcPct val="0"/>
        </a:spcAft>
        <a:defRPr sz="3200">
          <a:solidFill>
            <a:srgbClr val="601010"/>
          </a:solidFill>
          <a:latin typeface="Georgia" panose="02040502050405020303" pitchFamily="18" charset="0"/>
        </a:defRPr>
      </a:lvl5pPr>
      <a:lvl6pPr marL="457200" algn="l" rtl="0" fontAlgn="base">
        <a:spcBef>
          <a:spcPct val="0"/>
        </a:spcBef>
        <a:spcAft>
          <a:spcPct val="0"/>
        </a:spcAft>
        <a:defRPr sz="3200">
          <a:solidFill>
            <a:srgbClr val="601010"/>
          </a:solidFill>
          <a:latin typeface="Georgia" panose="02040502050405020303" pitchFamily="18" charset="0"/>
        </a:defRPr>
      </a:lvl6pPr>
      <a:lvl7pPr marL="914400" algn="l" rtl="0" fontAlgn="base">
        <a:spcBef>
          <a:spcPct val="0"/>
        </a:spcBef>
        <a:spcAft>
          <a:spcPct val="0"/>
        </a:spcAft>
        <a:defRPr sz="3200">
          <a:solidFill>
            <a:srgbClr val="601010"/>
          </a:solidFill>
          <a:latin typeface="Georgia" panose="02040502050405020303" pitchFamily="18" charset="0"/>
        </a:defRPr>
      </a:lvl7pPr>
      <a:lvl8pPr marL="1371600" algn="l" rtl="0" fontAlgn="base">
        <a:spcBef>
          <a:spcPct val="0"/>
        </a:spcBef>
        <a:spcAft>
          <a:spcPct val="0"/>
        </a:spcAft>
        <a:defRPr sz="3200">
          <a:solidFill>
            <a:srgbClr val="601010"/>
          </a:solidFill>
          <a:latin typeface="Georgia" panose="02040502050405020303" pitchFamily="18" charset="0"/>
        </a:defRPr>
      </a:lvl8pPr>
      <a:lvl9pPr marL="1828800" algn="l" rtl="0" fontAlgn="base">
        <a:spcBef>
          <a:spcPct val="0"/>
        </a:spcBef>
        <a:spcAft>
          <a:spcPct val="0"/>
        </a:spcAft>
        <a:defRPr sz="3200">
          <a:solidFill>
            <a:srgbClr val="601010"/>
          </a:solidFill>
          <a:latin typeface="Georgia" panose="02040502050405020303" pitchFamily="18" charset="0"/>
        </a:defRPr>
      </a:lvl9pPr>
    </p:titleStyle>
    <p:bodyStyle>
      <a:lvl1pPr marL="342900" indent="-342900" algn="l" rtl="0" fontAlgn="base">
        <a:spcBef>
          <a:spcPct val="20000"/>
        </a:spcBef>
        <a:spcAft>
          <a:spcPct val="0"/>
        </a:spcAft>
        <a:buChar char="•"/>
        <a:defRPr sz="2000">
          <a:solidFill>
            <a:srgbClr val="1C1C1C"/>
          </a:solidFill>
          <a:latin typeface="+mn-lt"/>
          <a:ea typeface="+mn-ea"/>
          <a:cs typeface="+mn-cs"/>
        </a:defRPr>
      </a:lvl1pPr>
      <a:lvl2pPr marL="742950" indent="-285750" algn="l" rtl="0" fontAlgn="base">
        <a:spcBef>
          <a:spcPct val="20000"/>
        </a:spcBef>
        <a:spcAft>
          <a:spcPct val="0"/>
        </a:spcAft>
        <a:buChar char="–"/>
        <a:defRPr sz="2000">
          <a:solidFill>
            <a:srgbClr val="1C1C1C"/>
          </a:solidFill>
          <a:latin typeface="+mn-lt"/>
        </a:defRPr>
      </a:lvl2pPr>
      <a:lvl3pPr marL="1143000" indent="-228600" algn="l" rtl="0" fontAlgn="base">
        <a:spcBef>
          <a:spcPct val="20000"/>
        </a:spcBef>
        <a:spcAft>
          <a:spcPct val="0"/>
        </a:spcAft>
        <a:buChar char="•"/>
        <a:defRPr sz="2000">
          <a:solidFill>
            <a:srgbClr val="1C1C1C"/>
          </a:solidFill>
          <a:latin typeface="+mn-lt"/>
        </a:defRPr>
      </a:lvl3pPr>
      <a:lvl4pPr marL="1600200" indent="-228600" algn="l" rtl="0" fontAlgn="base">
        <a:spcBef>
          <a:spcPct val="20000"/>
        </a:spcBef>
        <a:spcAft>
          <a:spcPct val="0"/>
        </a:spcAft>
        <a:buChar char="–"/>
        <a:defRPr sz="2000">
          <a:solidFill>
            <a:srgbClr val="1C1C1C"/>
          </a:solidFill>
          <a:latin typeface="+mn-lt"/>
        </a:defRPr>
      </a:lvl4pPr>
      <a:lvl5pPr marL="2057400" indent="-228600" algn="l" rtl="0" fontAlgn="base">
        <a:spcBef>
          <a:spcPct val="20000"/>
        </a:spcBef>
        <a:spcAft>
          <a:spcPct val="0"/>
        </a:spcAft>
        <a:buChar char="»"/>
        <a:defRPr sz="2000">
          <a:solidFill>
            <a:srgbClr val="1C1C1C"/>
          </a:solidFill>
          <a:latin typeface="+mn-lt"/>
        </a:defRPr>
      </a:lvl5pPr>
      <a:lvl6pPr marL="2514600" indent="-228600" algn="l" rtl="0" fontAlgn="base">
        <a:spcBef>
          <a:spcPct val="20000"/>
        </a:spcBef>
        <a:spcAft>
          <a:spcPct val="0"/>
        </a:spcAft>
        <a:buChar char="»"/>
        <a:defRPr sz="2000">
          <a:solidFill>
            <a:srgbClr val="1C1C1C"/>
          </a:solidFill>
          <a:latin typeface="+mn-lt"/>
        </a:defRPr>
      </a:lvl6pPr>
      <a:lvl7pPr marL="2971800" indent="-228600" algn="l" rtl="0" fontAlgn="base">
        <a:spcBef>
          <a:spcPct val="20000"/>
        </a:spcBef>
        <a:spcAft>
          <a:spcPct val="0"/>
        </a:spcAft>
        <a:buChar char="»"/>
        <a:defRPr sz="2000">
          <a:solidFill>
            <a:srgbClr val="1C1C1C"/>
          </a:solidFill>
          <a:latin typeface="+mn-lt"/>
        </a:defRPr>
      </a:lvl7pPr>
      <a:lvl8pPr marL="3429000" indent="-228600" algn="l" rtl="0" fontAlgn="base">
        <a:spcBef>
          <a:spcPct val="20000"/>
        </a:spcBef>
        <a:spcAft>
          <a:spcPct val="0"/>
        </a:spcAft>
        <a:buChar char="»"/>
        <a:defRPr sz="2000">
          <a:solidFill>
            <a:srgbClr val="1C1C1C"/>
          </a:solidFill>
          <a:latin typeface="+mn-lt"/>
        </a:defRPr>
      </a:lvl8pPr>
      <a:lvl9pPr marL="3886200" indent="-228600" algn="l" rtl="0" fontAlgn="base">
        <a:spcBef>
          <a:spcPct val="20000"/>
        </a:spcBef>
        <a:spcAft>
          <a:spcPct val="0"/>
        </a:spcAft>
        <a:buChar char="»"/>
        <a:defRPr sz="2000">
          <a:solidFill>
            <a:srgbClr val="1C1C1C"/>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2"/>
          <p:cNvSpPr>
            <a:spLocks noGrp="1"/>
          </p:cNvSpPr>
          <p:nvPr>
            <p:ph type="ctrTitle"/>
          </p:nvPr>
        </p:nvSpPr>
        <p:spPr>
          <a:xfrm>
            <a:off x="0" y="-27940"/>
            <a:ext cx="6012180" cy="7142480"/>
          </a:xfrm>
        </p:spPr>
        <p:txBody>
          <a:bodyPr vert="horz" wrap="square" lIns="91440" tIns="45720" rIns="91440" bIns="45720" anchor="b" anchorCtr="0"/>
          <a:lstStyle/>
          <a:p>
            <a:pPr algn="l">
              <a:buClrTx/>
              <a:buSzTx/>
              <a:buFontTx/>
              <a:buNone/>
            </a:pPr>
            <a:r>
              <a:rPr lang="en-IN" altLang="en-US" sz="3900" dirty="0">
                <a:latin typeface="Algerian" panose="04020705040A02060702" pitchFamily="82" charset="0"/>
                <a:ea typeface="Roboto"/>
              </a:rPr>
              <a:t>SMART CONTROL OF TRAFFIC LIGHTS </a:t>
            </a:r>
            <a:br>
              <a:rPr lang="en-IN" altLang="en-US" sz="3900" dirty="0">
                <a:latin typeface="+mj-lt"/>
                <a:ea typeface="Roboto"/>
                <a:cs typeface="+mj-cs"/>
              </a:rPr>
            </a:br>
            <a:r>
              <a:rPr lang="en-IN" altLang="en-US" sz="3900" dirty="0">
                <a:latin typeface="Algerian" panose="04020705040A02060702" pitchFamily="82" charset="0"/>
                <a:ea typeface="Roboto"/>
              </a:rPr>
              <a:t>USING</a:t>
            </a:r>
            <a:br>
              <a:rPr lang="en-IN" altLang="en-US" sz="2800" dirty="0">
                <a:latin typeface="Times New Roman" panose="02020603050405020304" charset="0"/>
                <a:ea typeface="Roboto"/>
                <a:cs typeface="Times New Roman" panose="02020603050405020304" charset="0"/>
              </a:rPr>
            </a:br>
            <a:r>
              <a:rPr lang="en-IN" altLang="en-US" sz="3600" dirty="0">
                <a:latin typeface="Algerian" panose="04020705040A02060702" pitchFamily="82" charset="0"/>
                <a:ea typeface="Roboto"/>
                <a:cs typeface="Times New Roman" panose="02020603050405020304" charset="0"/>
              </a:rPr>
              <a:t>ARTIFICIAL  INTELLIGENCE</a:t>
            </a:r>
            <a:br>
              <a:rPr lang="en-IN" altLang="en-US" sz="2800" dirty="0">
                <a:latin typeface="Times New Roman" panose="02020603050405020304" charset="0"/>
                <a:ea typeface="Roboto"/>
                <a:cs typeface="Times New Roman" panose="02020603050405020304" charset="0"/>
              </a:rPr>
            </a:br>
            <a:br>
              <a:rPr lang="en-IN" altLang="en-US" sz="2800" dirty="0">
                <a:latin typeface="Times New Roman" panose="02020603050405020304" charset="0"/>
                <a:ea typeface="Roboto"/>
                <a:cs typeface="Times New Roman" panose="02020603050405020304" charset="0"/>
              </a:rPr>
            </a:br>
            <a:r>
              <a:rPr lang="en-IN" altLang="en-US" sz="2400" dirty="0">
                <a:solidFill>
                  <a:schemeClr val="accent1">
                    <a:lumMod val="50000"/>
                  </a:schemeClr>
                </a:solidFill>
                <a:latin typeface="Times New Roman" panose="02020603050405020304" charset="0"/>
                <a:ea typeface="Roboto"/>
                <a:cs typeface="Times New Roman" panose="02020603050405020304" charset="0"/>
              </a:rPr>
              <a:t>M YAMINI SARASWATHI-160122737149</a:t>
            </a:r>
            <a:br>
              <a:rPr lang="en-IN" altLang="en-US" sz="2800" dirty="0">
                <a:solidFill>
                  <a:schemeClr val="accent1">
                    <a:lumMod val="50000"/>
                  </a:schemeClr>
                </a:solidFill>
                <a:latin typeface="Times New Roman" panose="02020603050405020304" charset="0"/>
                <a:ea typeface="Roboto"/>
                <a:cs typeface="Times New Roman" panose="02020603050405020304" charset="0"/>
              </a:rPr>
            </a:br>
            <a:r>
              <a:rPr lang="en-IN" altLang="en-US" sz="2400" dirty="0">
                <a:solidFill>
                  <a:schemeClr val="accent1">
                    <a:lumMod val="50000"/>
                  </a:schemeClr>
                </a:solidFill>
                <a:latin typeface="Times New Roman" panose="02020603050405020304" charset="0"/>
                <a:ea typeface="Roboto"/>
                <a:cs typeface="Times New Roman" panose="02020603050405020304" charset="0"/>
              </a:rPr>
              <a:t>R KRISHNAVENI-160122737157</a:t>
            </a:r>
            <a:br>
              <a:rPr lang="en-IN" altLang="en-US" sz="2400" dirty="0">
                <a:solidFill>
                  <a:schemeClr val="accent1">
                    <a:lumMod val="50000"/>
                  </a:schemeClr>
                </a:solidFill>
                <a:latin typeface="Times New Roman" panose="02020603050405020304" charset="0"/>
                <a:ea typeface="Roboto"/>
                <a:cs typeface="Times New Roman" panose="02020603050405020304" charset="0"/>
              </a:rPr>
            </a:br>
            <a:r>
              <a:rPr lang="en-IN" altLang="en-US" sz="2400" dirty="0">
                <a:solidFill>
                  <a:schemeClr val="accent1">
                    <a:lumMod val="50000"/>
                  </a:schemeClr>
                </a:solidFill>
                <a:latin typeface="Times New Roman" panose="02020603050405020304" charset="0"/>
                <a:ea typeface="Roboto"/>
                <a:cs typeface="Times New Roman" panose="02020603050405020304" charset="0"/>
              </a:rPr>
              <a:t>V VAISHNAVI DEVI-160122737165</a:t>
            </a:r>
            <a:br>
              <a:rPr lang="en-IN" altLang="en-US" sz="2400" dirty="0">
                <a:solidFill>
                  <a:schemeClr val="accent1">
                    <a:lumMod val="50000"/>
                  </a:schemeClr>
                </a:solidFill>
                <a:latin typeface="Times New Roman" panose="02020603050405020304" charset="0"/>
                <a:ea typeface="Roboto"/>
                <a:cs typeface="Times New Roman" panose="02020603050405020304" charset="0"/>
              </a:rPr>
            </a:br>
            <a:r>
              <a:rPr lang="en-IN" altLang="en-US" sz="2400" dirty="0">
                <a:solidFill>
                  <a:schemeClr val="accent1">
                    <a:lumMod val="50000"/>
                  </a:schemeClr>
                </a:solidFill>
                <a:latin typeface="Times New Roman" panose="02020603050405020304" charset="0"/>
                <a:ea typeface="Roboto"/>
                <a:cs typeface="Times New Roman" panose="02020603050405020304" charset="0"/>
              </a:rPr>
              <a:t>P VISISHTA-160122737167</a:t>
            </a:r>
            <a:br>
              <a:rPr lang="en-IN" altLang="en-US" sz="2400" dirty="0">
                <a:latin typeface="Times New Roman" panose="02020603050405020304" charset="0"/>
                <a:ea typeface="Roboto"/>
                <a:cs typeface="Times New Roman" panose="02020603050405020304" charset="0"/>
              </a:rPr>
            </a:br>
            <a:r>
              <a:rPr lang="en-IN" altLang="en-US" sz="2800" dirty="0">
                <a:solidFill>
                  <a:srgbClr val="002060"/>
                </a:solidFill>
                <a:latin typeface="Times New Roman" panose="02020603050405020304" charset="0"/>
                <a:ea typeface="Roboto"/>
                <a:cs typeface="Times New Roman" panose="02020603050405020304" charset="0"/>
              </a:rPr>
              <a:t>UNDER THE GUIDANCE OF</a:t>
            </a:r>
            <a:r>
              <a:rPr lang="en-IN" altLang="en-US" sz="2400" dirty="0">
                <a:latin typeface="Times New Roman" panose="02020603050405020304" charset="0"/>
                <a:ea typeface="Roboto"/>
                <a:cs typeface="Times New Roman" panose="02020603050405020304" charset="0"/>
              </a:rPr>
              <a:t>:</a:t>
            </a:r>
            <a:br>
              <a:rPr lang="en-IN" altLang="en-US" sz="2400" dirty="0">
                <a:latin typeface="Times New Roman" panose="02020603050405020304" charset="0"/>
                <a:ea typeface="Roboto"/>
                <a:cs typeface="Times New Roman" panose="02020603050405020304" charset="0"/>
              </a:rPr>
            </a:br>
            <a:r>
              <a:rPr lang="en-US" altLang="en-US" sz="2400" dirty="0">
                <a:solidFill>
                  <a:schemeClr val="accent1">
                    <a:lumMod val="50000"/>
                  </a:schemeClr>
                </a:solidFill>
                <a:latin typeface="Times New Roman" panose="02020603050405020304" charset="0"/>
                <a:ea typeface="Roboto"/>
                <a:cs typeface="Times New Roman" panose="02020603050405020304" charset="0"/>
              </a:rPr>
              <a:t>Mr. B. Harish Goud</a:t>
            </a:r>
            <a:br>
              <a:rPr lang="en-US" altLang="en-US" sz="2400" dirty="0">
                <a:solidFill>
                  <a:schemeClr val="accent1">
                    <a:lumMod val="50000"/>
                  </a:schemeClr>
                </a:solidFill>
                <a:latin typeface="Times New Roman" panose="02020603050405020304" charset="0"/>
                <a:ea typeface="Roboto"/>
                <a:cs typeface="Times New Roman" panose="02020603050405020304" charset="0"/>
              </a:rPr>
            </a:br>
            <a:r>
              <a:rPr lang="en-US" altLang="en-US" sz="2400" dirty="0">
                <a:solidFill>
                  <a:schemeClr val="accent1">
                    <a:lumMod val="50000"/>
                  </a:schemeClr>
                </a:solidFill>
                <a:latin typeface="Times New Roman" panose="02020603050405020304" charset="0"/>
                <a:ea typeface="Roboto"/>
                <a:cs typeface="Times New Roman" panose="02020603050405020304" charset="0"/>
              </a:rPr>
              <a:t>Assistant Professor</a:t>
            </a:r>
            <a:br>
              <a:rPr lang="en-US" altLang="en-US" sz="2400" dirty="0">
                <a:solidFill>
                  <a:schemeClr val="accent1">
                    <a:lumMod val="50000"/>
                  </a:schemeClr>
                </a:solidFill>
                <a:latin typeface="Times New Roman" panose="02020603050405020304" charset="0"/>
                <a:ea typeface="Roboto"/>
                <a:cs typeface="Times New Roman" panose="02020603050405020304" charset="0"/>
              </a:rPr>
            </a:br>
            <a:r>
              <a:rPr lang="en-US" altLang="en-US" sz="2400" dirty="0">
                <a:solidFill>
                  <a:schemeClr val="accent1">
                    <a:lumMod val="50000"/>
                  </a:schemeClr>
                </a:solidFill>
                <a:latin typeface="Times New Roman" panose="02020603050405020304" charset="0"/>
                <a:ea typeface="Roboto"/>
                <a:cs typeface="Times New Roman" panose="02020603050405020304" charset="0"/>
              </a:rPr>
              <a:t>IT Department</a:t>
            </a:r>
            <a:br>
              <a:rPr lang="en-IN" altLang="en-US" sz="2400" dirty="0">
                <a:solidFill>
                  <a:schemeClr val="accent1">
                    <a:lumMod val="50000"/>
                  </a:schemeClr>
                </a:solidFill>
                <a:latin typeface="Times New Roman" panose="02020603050405020304" charset="0"/>
                <a:ea typeface="Roboto"/>
                <a:cs typeface="Times New Roman" panose="02020603050405020304" charset="0"/>
              </a:rPr>
            </a:br>
            <a:br>
              <a:rPr lang="en-IN" altLang="en-US" sz="2400" dirty="0">
                <a:solidFill>
                  <a:schemeClr val="accent1">
                    <a:lumMod val="50000"/>
                  </a:schemeClr>
                </a:solidFill>
                <a:latin typeface="Times New Roman" panose="02020603050405020304" charset="0"/>
                <a:ea typeface="Roboto"/>
                <a:cs typeface="Times New Roman" panose="02020603050405020304" charset="0"/>
              </a:rPr>
            </a:br>
            <a:br>
              <a:rPr lang="en-IN" altLang="en-US" sz="2800" dirty="0">
                <a:latin typeface="Times New Roman" panose="02020603050405020304" charset="0"/>
                <a:ea typeface="Roboto"/>
                <a:cs typeface="Times New Roman" panose="02020603050405020304" charset="0"/>
              </a:rPr>
            </a:br>
            <a:endParaRPr lang="en-IN" altLang="en-US" sz="2800" dirty="0">
              <a:latin typeface="Times New Roman" panose="02020603050405020304" charset="0"/>
              <a:ea typeface="Roboto"/>
              <a:cs typeface="Times New Roman" panose="02020603050405020304" charset="0"/>
            </a:endParaRPr>
          </a:p>
        </p:txBody>
      </p:sp>
      <p:sp>
        <p:nvSpPr>
          <p:cNvPr id="34830" name="Rectangle 14"/>
          <p:cNvSpPr>
            <a:spLocks noChangeArrowheads="1"/>
          </p:cNvSpPr>
          <p:nvPr/>
        </p:nvSpPr>
        <p:spPr bwMode="auto">
          <a:xfrm>
            <a:off x="250825" y="5948363"/>
            <a:ext cx="4679950" cy="360363"/>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Lst>
        </p:spPr>
        <p:txBody>
          <a:bodyPr/>
          <a:lstStyle>
            <a:lvl1pPr algn="ctr">
              <a:spcBef>
                <a:spcPct val="20000"/>
              </a:spcBef>
              <a:defRPr sz="2000">
                <a:solidFill>
                  <a:srgbClr val="601010"/>
                </a:solidFill>
                <a:latin typeface="Georgia" panose="02040502050405020303" pitchFamily="18" charset="0"/>
              </a:defRPr>
            </a:lvl1pPr>
            <a:lvl2pPr algn="ctr">
              <a:spcBef>
                <a:spcPct val="20000"/>
              </a:spcBef>
              <a:defRPr sz="2000">
                <a:solidFill>
                  <a:srgbClr val="1C1C1C"/>
                </a:solidFill>
                <a:latin typeface="Georgia" panose="02040502050405020303" pitchFamily="18" charset="0"/>
              </a:defRPr>
            </a:lvl2pPr>
            <a:lvl3pPr algn="ctr">
              <a:spcBef>
                <a:spcPct val="20000"/>
              </a:spcBef>
              <a:defRPr sz="2000">
                <a:solidFill>
                  <a:srgbClr val="1C1C1C"/>
                </a:solidFill>
                <a:latin typeface="Georgia" panose="02040502050405020303" pitchFamily="18" charset="0"/>
              </a:defRPr>
            </a:lvl3pPr>
            <a:lvl4pPr algn="ctr">
              <a:spcBef>
                <a:spcPct val="20000"/>
              </a:spcBef>
              <a:defRPr sz="2000">
                <a:solidFill>
                  <a:srgbClr val="1C1C1C"/>
                </a:solidFill>
                <a:latin typeface="Georgia" panose="02040502050405020303" pitchFamily="18" charset="0"/>
              </a:defRPr>
            </a:lvl4pPr>
            <a:lvl5pPr algn="ctr">
              <a:spcBef>
                <a:spcPct val="20000"/>
              </a:spcBef>
              <a:defRPr sz="2000">
                <a:solidFill>
                  <a:srgbClr val="1C1C1C"/>
                </a:solidFill>
                <a:latin typeface="Georgia" panose="02040502050405020303" pitchFamily="18" charset="0"/>
              </a:defRPr>
            </a:lvl5pPr>
            <a:lvl6pPr algn="ctr" fontAlgn="base">
              <a:spcBef>
                <a:spcPct val="20000"/>
              </a:spcBef>
              <a:spcAft>
                <a:spcPct val="0"/>
              </a:spcAft>
              <a:defRPr sz="2000">
                <a:solidFill>
                  <a:srgbClr val="1C1C1C"/>
                </a:solidFill>
                <a:latin typeface="Georgia" panose="02040502050405020303" pitchFamily="18" charset="0"/>
              </a:defRPr>
            </a:lvl6pPr>
            <a:lvl7pPr algn="ctr" fontAlgn="base">
              <a:spcBef>
                <a:spcPct val="20000"/>
              </a:spcBef>
              <a:spcAft>
                <a:spcPct val="0"/>
              </a:spcAft>
              <a:defRPr sz="2000">
                <a:solidFill>
                  <a:srgbClr val="1C1C1C"/>
                </a:solidFill>
                <a:latin typeface="Georgia" panose="02040502050405020303" pitchFamily="18" charset="0"/>
              </a:defRPr>
            </a:lvl7pPr>
            <a:lvl8pPr algn="ctr" fontAlgn="base">
              <a:spcBef>
                <a:spcPct val="20000"/>
              </a:spcBef>
              <a:spcAft>
                <a:spcPct val="0"/>
              </a:spcAft>
              <a:defRPr sz="2000">
                <a:solidFill>
                  <a:srgbClr val="1C1C1C"/>
                </a:solidFill>
                <a:latin typeface="Georgia" panose="02040502050405020303" pitchFamily="18" charset="0"/>
              </a:defRPr>
            </a:lvl8pPr>
            <a:lvl9pPr algn="ctr" fontAlgn="base">
              <a:spcBef>
                <a:spcPct val="20000"/>
              </a:spcBef>
              <a:spcAft>
                <a:spcPct val="0"/>
              </a:spcAft>
              <a:defRPr sz="2000">
                <a:solidFill>
                  <a:srgbClr val="1C1C1C"/>
                </a:solidFill>
                <a:latin typeface="Georgia" panose="02040502050405020303"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uk-UA" altLang="ru-RU" sz="1800" b="0" i="0" u="none" strike="noStrike" kern="1200" cap="none" spc="0" normalizeH="0" baseline="0" noProof="0" dirty="0">
              <a:ln>
                <a:noFill/>
              </a:ln>
              <a:solidFill>
                <a:schemeClr val="tx2"/>
              </a:solidFill>
              <a:effectLst/>
              <a:uLnTx/>
              <a:uFillTx/>
              <a:latin typeface="+mn-lt"/>
              <a:ea typeface="Roboto light" pitchFamily="2"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dirty="0">
                <a:latin typeface="Times New Roman" panose="02020603050405020304" charset="0"/>
                <a:cs typeface="Times New Roman" panose="02020603050405020304" charset="0"/>
              </a:rPr>
              <a:t>                  AGENDA</a:t>
            </a:r>
            <a:endParaRPr lang="en-IN" sz="4000"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charset="0"/>
                <a:cs typeface="Times New Roman" panose="02020603050405020304" charset="0"/>
              </a:rPr>
              <a:t>ABSTRACT</a:t>
            </a:r>
            <a:endParaRPr lang="en-US" dirty="0">
              <a:latin typeface="Times New Roman" panose="02020603050405020304" charset="0"/>
              <a:cs typeface="Times New Roman" panose="02020603050405020304" charset="0"/>
            </a:endParaRPr>
          </a:p>
          <a:p>
            <a:pPr>
              <a:buFont typeface="Wingdings" panose="05000000000000000000" pitchFamily="2" charset="2"/>
              <a:buChar char="Ø"/>
            </a:pPr>
            <a:r>
              <a:rPr lang="en-US" dirty="0">
                <a:latin typeface="Times New Roman" panose="02020603050405020304" charset="0"/>
                <a:cs typeface="Times New Roman" panose="02020603050405020304" charset="0"/>
              </a:rPr>
              <a:t>INTRODUCTION</a:t>
            </a:r>
            <a:endParaRPr lang="en-US" dirty="0">
              <a:latin typeface="Times New Roman" panose="02020603050405020304" charset="0"/>
              <a:cs typeface="Times New Roman" panose="02020603050405020304" charset="0"/>
            </a:endParaRPr>
          </a:p>
          <a:p>
            <a:pPr>
              <a:buFont typeface="Wingdings" panose="05000000000000000000" pitchFamily="2" charset="2"/>
              <a:buChar char="Ø"/>
            </a:pPr>
            <a:r>
              <a:rPr lang="en-US" dirty="0">
                <a:latin typeface="Times New Roman" panose="02020603050405020304" charset="0"/>
                <a:cs typeface="Times New Roman" panose="02020603050405020304" charset="0"/>
              </a:rPr>
              <a:t>LITERATURE SURVEY</a:t>
            </a:r>
            <a:endParaRPr lang="en-US" dirty="0">
              <a:latin typeface="Times New Roman" panose="02020603050405020304" charset="0"/>
              <a:cs typeface="Times New Roman" panose="02020603050405020304" charset="0"/>
            </a:endParaRPr>
          </a:p>
          <a:p>
            <a:pPr>
              <a:buFont typeface="Wingdings" panose="05000000000000000000" pitchFamily="2" charset="2"/>
              <a:buChar char="Ø"/>
            </a:pPr>
            <a:r>
              <a:rPr lang="en-US" dirty="0">
                <a:latin typeface="Times New Roman" panose="02020603050405020304" charset="0"/>
                <a:cs typeface="Times New Roman" panose="02020603050405020304" charset="0"/>
              </a:rPr>
              <a:t>EXISTING SYSTEM</a:t>
            </a:r>
            <a:endParaRPr lang="en-US" dirty="0">
              <a:latin typeface="Times New Roman" panose="02020603050405020304" charset="0"/>
              <a:cs typeface="Times New Roman" panose="02020603050405020304" charset="0"/>
            </a:endParaRPr>
          </a:p>
          <a:p>
            <a:pPr>
              <a:buFont typeface="Wingdings" panose="05000000000000000000" pitchFamily="2" charset="2"/>
              <a:buChar char="Ø"/>
            </a:pPr>
            <a:r>
              <a:rPr lang="en-US" dirty="0">
                <a:latin typeface="Times New Roman" panose="02020603050405020304" charset="0"/>
                <a:cs typeface="Times New Roman" panose="02020603050405020304" charset="0"/>
              </a:rPr>
              <a:t>PROBLEM STATEMENT</a:t>
            </a:r>
            <a:endParaRPr lang="en-US" dirty="0">
              <a:latin typeface="Times New Roman" panose="02020603050405020304" charset="0"/>
              <a:cs typeface="Times New Roman" panose="02020603050405020304" charset="0"/>
            </a:endParaRPr>
          </a:p>
          <a:p>
            <a:pPr>
              <a:buFont typeface="Wingdings" panose="05000000000000000000" pitchFamily="2" charset="2"/>
              <a:buChar char="Ø"/>
            </a:pPr>
            <a:r>
              <a:rPr lang="en-US" dirty="0">
                <a:latin typeface="Times New Roman" panose="02020603050405020304" charset="0"/>
                <a:cs typeface="Times New Roman" panose="02020603050405020304" charset="0"/>
              </a:rPr>
              <a:t>PROPOSED SYTEM</a:t>
            </a:r>
            <a:endParaRPr lang="en-US" dirty="0">
              <a:latin typeface="Times New Roman" panose="02020603050405020304" charset="0"/>
              <a:cs typeface="Times New Roman" panose="02020603050405020304" charset="0"/>
            </a:endParaRPr>
          </a:p>
          <a:p>
            <a:pPr>
              <a:buFont typeface="Wingdings" panose="05000000000000000000" pitchFamily="2" charset="2"/>
              <a:buChar char="Ø"/>
            </a:pPr>
            <a:r>
              <a:rPr lang="en-US" dirty="0">
                <a:latin typeface="Times New Roman" panose="02020603050405020304" charset="0"/>
                <a:cs typeface="Times New Roman" panose="02020603050405020304" charset="0"/>
              </a:rPr>
              <a:t>RESULTS</a:t>
            </a:r>
            <a:endParaRPr lang="en-US" dirty="0">
              <a:latin typeface="Times New Roman" panose="02020603050405020304" charset="0"/>
              <a:cs typeface="Times New Roman" panose="02020603050405020304" charset="0"/>
            </a:endParaRPr>
          </a:p>
          <a:p>
            <a:pPr>
              <a:buFont typeface="Wingdings" panose="05000000000000000000" pitchFamily="2" charset="2"/>
              <a:buChar char="Ø"/>
            </a:pPr>
            <a:r>
              <a:rPr lang="en-US" dirty="0">
                <a:latin typeface="Times New Roman" panose="02020603050405020304" charset="0"/>
                <a:cs typeface="Times New Roman" panose="02020603050405020304" charset="0"/>
              </a:rPr>
              <a:t>CONCLUSION</a:t>
            </a:r>
            <a:endParaRPr lang="en-US" dirty="0">
              <a:latin typeface="Times New Roman" panose="02020603050405020304" charset="0"/>
              <a:cs typeface="Times New Roman" panose="02020603050405020304" charset="0"/>
            </a:endParaRPr>
          </a:p>
          <a:p>
            <a:pPr>
              <a:buFont typeface="Wingdings" panose="05000000000000000000" pitchFamily="2" charset="2"/>
              <a:buChar char="Ø"/>
            </a:pPr>
            <a:r>
              <a:rPr lang="en-US" dirty="0">
                <a:latin typeface="Times New Roman" panose="02020603050405020304" charset="0"/>
                <a:cs typeface="Times New Roman" panose="02020603050405020304" charset="0"/>
              </a:rPr>
              <a:t>REFERENCES</a:t>
            </a:r>
            <a:endParaRPr lang="en-US" dirty="0">
              <a:latin typeface="Times New Roman" panose="02020603050405020304" charset="0"/>
              <a:cs typeface="Times New Roman" panose="02020603050405020304" charset="0"/>
            </a:endParaRP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a:t>
            </a:r>
            <a:r>
              <a:rPr lang="en-IN" dirty="0">
                <a:latin typeface="Times New Roman" panose="02020603050405020304" charset="0"/>
                <a:cs typeface="Times New Roman" panose="02020603050405020304" charset="0"/>
              </a:rPr>
              <a:t>ABSTRACT</a:t>
            </a:r>
            <a:endParaRPr lang="en-IN"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68313" y="1484312"/>
            <a:ext cx="8207375" cy="3889375"/>
          </a:xfrm>
        </p:spPr>
        <p:txBody>
          <a:bodyPr/>
          <a:lstStyle/>
          <a:p>
            <a:pPr marL="0" indent="0" algn="just">
              <a:buNone/>
            </a:pPr>
            <a:r>
              <a:rPr lang="en-US" b="0" i="0" dirty="0">
                <a:solidFill>
                  <a:srgbClr val="0D0D0D"/>
                </a:solidFill>
                <a:effectLst/>
                <a:highlight>
                  <a:srgbClr val="F4F4F4"/>
                </a:highlight>
                <a:latin typeface="Times New Roman" panose="02020603050405020304" charset="0"/>
                <a:cs typeface="Times New Roman" panose="02020603050405020304" charset="0"/>
              </a:rPr>
              <a:t>Our lives have been made easier by the swift advancement of scientific advances across all domains, yet the road traffic accidents have increased over time and claimed countless lives. The average commute time in India's main cites has increased dramatically during rush hour. The typical traffic signal runs on a constant stream of instructions that are kept in memory. For over ten years, traffic control has been a challenge, and it will likely remain so for some time to come. In this system vehicle density at an intersection is measured and a signal switching algorithm is used to measure the proper time for the duration of the green and red lights, as well as the length of the vehicles waiting in each route at the intersection and also the next intersection to ensure a smooth flow of traffic</a:t>
            </a:r>
            <a:r>
              <a:rPr lang="en-US" sz="2400" b="0" i="0" dirty="0">
                <a:solidFill>
                  <a:srgbClr val="0D0D0D"/>
                </a:solidFill>
                <a:effectLst/>
                <a:highlight>
                  <a:srgbClr val="F4F4F4"/>
                </a:highlight>
                <a:latin typeface="Times New Roman" panose="02020603050405020304" charset="0"/>
                <a:cs typeface="Times New Roman" panose="02020603050405020304" charset="0"/>
              </a:rPr>
              <a:t>.</a:t>
            </a:r>
            <a:endParaRPr lang="en-IN" sz="2400" dirty="0">
              <a:latin typeface="Times New Roman" panose="02020603050405020304" charset="0"/>
              <a:cs typeface="Times New Roman" panose="02020603050405020304" charset="0"/>
            </a:endParaRP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762" y="583077"/>
            <a:ext cx="8207375" cy="1155700"/>
          </a:xfrm>
        </p:spPr>
        <p:txBody>
          <a:bodyPr/>
          <a:lstStyle/>
          <a:p>
            <a:r>
              <a:rPr lang="en-IN" dirty="0">
                <a:latin typeface="Times New Roman" panose="02020603050405020304" charset="0"/>
                <a:cs typeface="Times New Roman" panose="02020603050405020304" charset="0"/>
              </a:rPr>
              <a:t>                         </a:t>
            </a:r>
            <a:r>
              <a:rPr lang="en-IN" sz="4000" dirty="0">
                <a:latin typeface="Times New Roman" panose="02020603050405020304" charset="0"/>
                <a:cs typeface="Times New Roman" panose="02020603050405020304" charset="0"/>
              </a:rPr>
              <a:t>INTRODUCTION</a:t>
            </a:r>
            <a:endParaRPr lang="en-IN" sz="4000" dirty="0">
              <a:latin typeface="Times New Roman" panose="02020603050405020304" charset="0"/>
              <a:cs typeface="Times New Roman" panose="02020603050405020304" charset="0"/>
            </a:endParaRP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9" name="Rectangle 5"/>
          <p:cNvSpPr>
            <a:spLocks noChangeArrowheads="1"/>
          </p:cNvSpPr>
          <p:nvPr/>
        </p:nvSpPr>
        <p:spPr bwMode="auto">
          <a:xfrm>
            <a:off x="179512" y="1748826"/>
            <a:ext cx="848506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None/>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Arial" panose="020B0604020202020204" pitchFamily="34" charset="0"/>
              </a:rPr>
              <a:t>Current traffic system causes congestion and</a:t>
            </a:r>
            <a:r>
              <a:rPr lang="en-US" altLang="en-US" sz="2000" b="0" dirty="0"/>
              <a:t>  </a:t>
            </a:r>
            <a:r>
              <a:rPr kumimoji="0" lang="en-US" altLang="en-US" sz="2000" b="0" i="0" u="none" strike="noStrike" cap="none" normalizeH="0" baseline="0" dirty="0">
                <a:ln>
                  <a:noFill/>
                </a:ln>
                <a:solidFill>
                  <a:schemeClr val="tx1"/>
                </a:solidFill>
                <a:effectLst/>
                <a:latin typeface="Arial" panose="020B0604020202020204" pitchFamily="34" charset="0"/>
              </a:rPr>
              <a:t>accidents due to static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50000"/>
              </a:lnSpc>
              <a:spcBef>
                <a:spcPct val="0"/>
              </a:spcBef>
              <a:spcAft>
                <a:spcPct val="0"/>
              </a:spcAft>
              <a:buClrTx/>
              <a:buSzTx/>
            </a:pPr>
            <a:r>
              <a:rPr lang="en-US" altLang="en-US" sz="2000" b="0" dirty="0"/>
              <a:t>    </a:t>
            </a:r>
            <a:r>
              <a:rPr kumimoji="0" lang="en-US" altLang="en-US" sz="2000" b="0" i="0" u="none" strike="noStrike" cap="none" normalizeH="0" baseline="0" dirty="0">
                <a:ln>
                  <a:noFill/>
                </a:ln>
                <a:solidFill>
                  <a:schemeClr val="tx1"/>
                </a:solidFill>
                <a:effectLst/>
                <a:latin typeface="Arial" panose="020B0604020202020204" pitchFamily="34" charset="0"/>
              </a:rPr>
              <a:t>signal timers.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Arial" panose="020B0604020202020204" pitchFamily="34" charset="0"/>
              </a:rPr>
              <a:t>Congestion leads to fuel waste, pollution, and economic impact.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Arial" panose="020B0604020202020204" pitchFamily="34" charset="0"/>
              </a:rPr>
              <a:t>Proposed AI-driven traffic lights adapt to real-time traffic density.</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Arial" panose="020B0604020202020204" pitchFamily="34" charset="0"/>
              </a:rPr>
              <a:t>AI aims to improve flow, reduce congestion,</a:t>
            </a:r>
            <a:r>
              <a:rPr lang="en-US" altLang="en-US" sz="2000" b="0" dirty="0"/>
              <a:t> </a:t>
            </a:r>
            <a:r>
              <a:rPr kumimoji="0" lang="en-US" altLang="en-US" sz="2000" b="0" i="0" u="none" strike="noStrike" cap="none" normalizeH="0" baseline="0" dirty="0">
                <a:ln>
                  <a:noFill/>
                </a:ln>
                <a:solidFill>
                  <a:schemeClr val="tx1"/>
                </a:solidFill>
                <a:effectLst/>
                <a:latin typeface="Arial" panose="020B0604020202020204" pitchFamily="34" charset="0"/>
              </a:rPr>
              <a:t>and enhance safety.</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Arial" panose="020B0604020202020204" pitchFamily="34" charset="0"/>
              </a:rPr>
              <a:t>Objectives include optimizing flow, adapting</a:t>
            </a:r>
            <a:r>
              <a:rPr lang="en-US" altLang="en-US" sz="2000" b="0" dirty="0"/>
              <a:t>  </a:t>
            </a:r>
            <a:r>
              <a:rPr kumimoji="0" lang="en-US" altLang="en-US" sz="2000" b="0" i="0" u="none" strike="noStrike" cap="none" normalizeH="0" baseline="0" dirty="0">
                <a:ln>
                  <a:noFill/>
                </a:ln>
                <a:solidFill>
                  <a:schemeClr val="tx1"/>
                </a:solidFill>
                <a:effectLst/>
                <a:latin typeface="Arial" panose="020B0604020202020204" pitchFamily="34" charset="0"/>
              </a:rPr>
              <a:t>to patterns, and enhancing safety.</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6"/>
          <p:cNvSpPr>
            <a:spLocks noChangeArrowheads="1"/>
          </p:cNvSpPr>
          <p:nvPr/>
        </p:nvSpPr>
        <p:spPr bwMode="auto">
          <a:xfrm>
            <a:off x="0" y="0"/>
            <a:ext cx="27717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2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89" y="-17184"/>
            <a:ext cx="8207375" cy="1155700"/>
          </a:xfrm>
        </p:spPr>
        <p:txBody>
          <a:bodyPr/>
          <a:lstStyle/>
          <a:p>
            <a:r>
              <a:rPr lang="en-IN" dirty="0">
                <a:latin typeface="Times New Roman" panose="02020603050405020304" charset="0"/>
                <a:cs typeface="Times New Roman" panose="02020603050405020304" charset="0"/>
              </a:rPr>
              <a:t>               </a:t>
            </a:r>
            <a:r>
              <a:rPr lang="en-IN" sz="4000" dirty="0">
                <a:latin typeface="Times New Roman" panose="02020603050405020304" charset="0"/>
                <a:cs typeface="Times New Roman" panose="02020603050405020304" charset="0"/>
              </a:rPr>
              <a:t>LITERATURE SURVEY</a:t>
            </a:r>
            <a:endParaRPr lang="en-IN" sz="4000" dirty="0">
              <a:latin typeface="Times New Roman" panose="02020603050405020304" charset="0"/>
              <a:cs typeface="Times New Roman" panose="02020603050405020304" charset="0"/>
            </a:endParaRPr>
          </a:p>
        </p:txBody>
      </p:sp>
      <p:graphicFrame>
        <p:nvGraphicFramePr>
          <p:cNvPr id="8" name="Content Placeholder 7"/>
          <p:cNvGraphicFramePr>
            <a:graphicFrameLocks noGrp="1"/>
          </p:cNvGraphicFramePr>
          <p:nvPr>
            <p:ph idx="1"/>
          </p:nvPr>
        </p:nvGraphicFramePr>
        <p:xfrm>
          <a:off x="138336" y="900391"/>
          <a:ext cx="8867328" cy="5552797"/>
        </p:xfrm>
        <a:graphic>
          <a:graphicData uri="http://schemas.openxmlformats.org/drawingml/2006/table">
            <a:tbl>
              <a:tblPr firstRow="1" bandRow="1">
                <a:tableStyleId>{16D9F66E-5EB9-4882-86FB-DCBF35E3C3E4}</a:tableStyleId>
              </a:tblPr>
              <a:tblGrid>
                <a:gridCol w="2822299"/>
                <a:gridCol w="1312697"/>
                <a:gridCol w="4732332"/>
              </a:tblGrid>
              <a:tr h="813088">
                <a:tc>
                  <a:txBody>
                    <a:bodyPr/>
                    <a:lstStyle/>
                    <a:p>
                      <a:r>
                        <a:rPr lang="en-IN" sz="4000" dirty="0"/>
                        <a:t>    PAPERS</a:t>
                      </a:r>
                      <a:endParaRPr lang="en-IN" sz="4000" dirty="0"/>
                    </a:p>
                  </a:txBody>
                  <a:tcPr/>
                </a:tc>
                <a:tc>
                  <a:txBody>
                    <a:bodyPr/>
                    <a:lstStyle/>
                    <a:p>
                      <a:r>
                        <a:rPr lang="en-IN" sz="4000" dirty="0"/>
                        <a:t>YEAR</a:t>
                      </a:r>
                      <a:endParaRPr lang="en-IN" sz="4000" dirty="0"/>
                    </a:p>
                  </a:txBody>
                  <a:tcPr/>
                </a:tc>
                <a:tc>
                  <a:txBody>
                    <a:bodyPr/>
                    <a:lstStyle/>
                    <a:p>
                      <a:r>
                        <a:rPr lang="en-IN" sz="4000" dirty="0"/>
                        <a:t>  OUTCOMES</a:t>
                      </a:r>
                      <a:endParaRPr lang="en-IN" sz="4000" dirty="0"/>
                    </a:p>
                  </a:txBody>
                  <a:tcPr/>
                </a:tc>
              </a:tr>
              <a:tr h="1813629">
                <a:tc>
                  <a:txBody>
                    <a:bodyPr/>
                    <a:lstStyle/>
                    <a:p>
                      <a:r>
                        <a:rPr lang="en-US" dirty="0"/>
                        <a:t>INTELLIGENT TRAFFIC LIGHT SYSTEM USING IMAGE PROCESSING</a:t>
                      </a:r>
                      <a:endParaRPr lang="en-IN" dirty="0"/>
                    </a:p>
                  </a:txBody>
                  <a:tcPr/>
                </a:tc>
                <a:tc>
                  <a:txBody>
                    <a:bodyPr/>
                    <a:lstStyle/>
                    <a:p>
                      <a:r>
                        <a:rPr lang="en-IN" dirty="0"/>
                        <a:t>    2021</a:t>
                      </a:r>
                      <a:endParaRPr lang="en-IN" dirty="0"/>
                    </a:p>
                  </a:txBody>
                  <a:tcPr/>
                </a:tc>
                <a:tc>
                  <a:txBody>
                    <a:bodyPr/>
                    <a:lstStyle/>
                    <a:p>
                      <a:r>
                        <a:rPr lang="en-US" dirty="0"/>
                        <a:t>The system identifies cars using video cameras and employs an algorithm to count vehicles on the road via image processing. High-angle cameras at crossings capture traffic images, transmitting signals to a central server for real-time traffic density analysis.</a:t>
                      </a:r>
                      <a:endParaRPr lang="en-IN" dirty="0"/>
                    </a:p>
                  </a:txBody>
                  <a:tcPr/>
                </a:tc>
              </a:tr>
              <a:tr h="1319003">
                <a:tc>
                  <a:txBody>
                    <a:bodyPr/>
                    <a:lstStyle/>
                    <a:p>
                      <a:r>
                        <a:rPr lang="en-US" dirty="0"/>
                        <a:t>AI DRIVEN TRAFFIC LIGHTS</a:t>
                      </a:r>
                      <a:endParaRPr lang="en-IN" dirty="0"/>
                    </a:p>
                  </a:txBody>
                  <a:tcPr/>
                </a:tc>
                <a:tc>
                  <a:txBody>
                    <a:bodyPr/>
                    <a:lstStyle/>
                    <a:p>
                      <a:r>
                        <a:rPr lang="en-IN" dirty="0"/>
                        <a:t>     2023</a:t>
                      </a:r>
                      <a:endParaRPr lang="en-IN" dirty="0"/>
                    </a:p>
                  </a:txBody>
                  <a:tcPr/>
                </a:tc>
                <a:tc>
                  <a:txBody>
                    <a:bodyPr/>
                    <a:lstStyle/>
                    <a:p>
                      <a:r>
                        <a:rPr lang="en-US" dirty="0"/>
                        <a:t>Proposed methodology is</a:t>
                      </a:r>
                      <a:endParaRPr lang="en-US" dirty="0"/>
                    </a:p>
                    <a:p>
                      <a:r>
                        <a:rPr lang="en-US" dirty="0"/>
                        <a:t>implemented using  simulation</a:t>
                      </a:r>
                      <a:endParaRPr lang="en-US" dirty="0"/>
                    </a:p>
                    <a:p>
                      <a:r>
                        <a:rPr lang="en-US" dirty="0"/>
                        <a:t>of </a:t>
                      </a:r>
                      <a:r>
                        <a:rPr lang="en-US" dirty="0" err="1"/>
                        <a:t>signals.Uses</a:t>
                      </a:r>
                      <a:r>
                        <a:rPr lang="en-US" dirty="0"/>
                        <a:t> raspberry Pi</a:t>
                      </a:r>
                      <a:endParaRPr lang="en-US" dirty="0"/>
                    </a:p>
                    <a:p>
                      <a:r>
                        <a:rPr lang="en-US" dirty="0"/>
                        <a:t>for image processing and run</a:t>
                      </a:r>
                      <a:endParaRPr lang="en-US" dirty="0"/>
                    </a:p>
                    <a:p>
                      <a:r>
                        <a:rPr lang="en-US" dirty="0"/>
                        <a:t>smart algorithm</a:t>
                      </a:r>
                      <a:endParaRPr lang="en-IN" dirty="0"/>
                    </a:p>
                  </a:txBody>
                  <a:tcPr/>
                </a:tc>
              </a:tr>
              <a:tr h="1319003">
                <a:tc>
                  <a:txBody>
                    <a:bodyPr/>
                    <a:lstStyle/>
                    <a:p>
                      <a:r>
                        <a:rPr lang="en-US" dirty="0"/>
                        <a:t>ARTIFICIAL INTELLIGENCE BASED FRAMEWORK FOR EFFECTIVE  PERFORMANCE OF TRAFFIC LIGHT CONTROL SYSTEM</a:t>
                      </a:r>
                      <a:endParaRPr lang="en-IN" dirty="0"/>
                    </a:p>
                  </a:txBody>
                  <a:tcPr/>
                </a:tc>
                <a:tc>
                  <a:txBody>
                    <a:bodyPr/>
                    <a:lstStyle/>
                    <a:p>
                      <a:r>
                        <a:rPr lang="en-IN" dirty="0"/>
                        <a:t>    2021</a:t>
                      </a:r>
                      <a:endParaRPr lang="en-IN" dirty="0"/>
                    </a:p>
                  </a:txBody>
                  <a:tcPr/>
                </a:tc>
                <a:tc>
                  <a:txBody>
                    <a:bodyPr/>
                    <a:lstStyle/>
                    <a:p>
                      <a:r>
                        <a:rPr lang="en-US" dirty="0"/>
                        <a:t>Used for Detection of number of vehicles</a:t>
                      </a:r>
                      <a:endParaRPr lang="en-US" dirty="0"/>
                    </a:p>
                    <a:p>
                      <a:endParaRPr lang="en-IN" dirty="0"/>
                    </a:p>
                  </a:txBody>
                  <a:tcPr/>
                </a:tc>
              </a:tr>
            </a:tbl>
          </a:graphicData>
        </a:graphic>
      </p:graphicFrame>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43DB968B-A824-4FA8-A919-C3E8049C21B7}" type="slidenum">
              <a:rPr kumimoji="0" lang="en-GB" altLang="ru-RU" sz="900" b="0" i="0" u="none" strike="noStrike" kern="1200" cap="none" spc="0" normalizeH="0" baseline="0" noProof="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6147" name="Rectangle 2"/>
          <p:cNvSpPr>
            <a:spLocks noGrp="1"/>
          </p:cNvSpPr>
          <p:nvPr>
            <p:ph type="title"/>
          </p:nvPr>
        </p:nvSpPr>
        <p:spPr>
          <a:xfrm>
            <a:off x="395288" y="261938"/>
            <a:ext cx="8350250" cy="935037"/>
          </a:xfrm>
        </p:spPr>
        <p:txBody>
          <a:bodyPr vert="horz" wrap="square" lIns="91440" tIns="45720" rIns="91440" bIns="45720" anchor="ctr" anchorCtr="0"/>
          <a:lstStyle/>
          <a:p>
            <a:pPr>
              <a:buNone/>
            </a:pPr>
            <a:r>
              <a:rPr lang="en-IN" altLang="uk-UA" dirty="0">
                <a:latin typeface="Times New Roman" panose="02020603050405020304" charset="0"/>
                <a:cs typeface="Times New Roman" panose="02020603050405020304" charset="0"/>
              </a:rPr>
              <a:t>              </a:t>
            </a:r>
            <a:r>
              <a:rPr lang="en-IN" altLang="uk-UA" sz="4000" dirty="0">
                <a:latin typeface="Times New Roman" panose="02020603050405020304" charset="0"/>
                <a:cs typeface="Times New Roman" panose="02020603050405020304" charset="0"/>
              </a:rPr>
              <a:t>PROBLEM STATEMENT</a:t>
            </a:r>
            <a:endParaRPr lang="en-IN" altLang="uk-UA" sz="4000" dirty="0">
              <a:latin typeface="Times New Roman" panose="02020603050405020304" charset="0"/>
              <a:cs typeface="Times New Roman" panose="02020603050405020304" charset="0"/>
            </a:endParaRPr>
          </a:p>
        </p:txBody>
      </p:sp>
      <p:sp>
        <p:nvSpPr>
          <p:cNvPr id="6148" name="Rectangle 3"/>
          <p:cNvSpPr>
            <a:spLocks noGrp="1"/>
          </p:cNvSpPr>
          <p:nvPr>
            <p:ph idx="1"/>
          </p:nvPr>
        </p:nvSpPr>
        <p:spPr>
          <a:xfrm>
            <a:off x="435902" y="2039938"/>
            <a:ext cx="7778750" cy="3600995"/>
          </a:xfrm>
        </p:spPr>
        <p:txBody>
          <a:bodyPr vert="horz" wrap="square" lIns="91440" tIns="45720" rIns="91440" bIns="45720" anchor="t" anchorCtr="0"/>
          <a:lstStyle/>
          <a:p>
            <a:pPr lvl="1">
              <a:buFont typeface="Wingdings" panose="05000000000000000000" pitchFamily="2" charset="2"/>
              <a:buChar char="Ø"/>
            </a:pPr>
            <a:r>
              <a:rPr lang="uk-UA" altLang="ru-RU" dirty="0">
                <a:latin typeface="Times New Roman" panose="02020603050405020304" charset="0"/>
                <a:cs typeface="Times New Roman" panose="02020603050405020304" charset="0"/>
              </a:rPr>
              <a:t>The primary cause of congestion is the extensive use of cars, whose ownership has increased dramatically in urban areas in recent years.</a:t>
            </a:r>
            <a:endParaRPr lang="en-IN" altLang="ru-RU" dirty="0">
              <a:latin typeface="Times New Roman" panose="02020603050405020304" charset="0"/>
              <a:cs typeface="Times New Roman" panose="02020603050405020304" charset="0"/>
            </a:endParaRPr>
          </a:p>
          <a:p>
            <a:pPr lvl="1">
              <a:buFont typeface="Wingdings" panose="05000000000000000000" pitchFamily="2" charset="2"/>
              <a:buChar char="Ø"/>
            </a:pPr>
            <a:r>
              <a:rPr lang="uk-UA" altLang="ru-RU" dirty="0">
                <a:latin typeface="Times New Roman" panose="02020603050405020304" charset="0"/>
                <a:cs typeface="Times New Roman" panose="02020603050405020304" charset="0"/>
              </a:rPr>
              <a:t>Because there are fewer cars than anticipated, a lot of time is lost at traffic signals.</a:t>
            </a:r>
            <a:endParaRPr lang="en-IN" altLang="ru-RU" dirty="0">
              <a:latin typeface="Times New Roman" panose="02020603050405020304" charset="0"/>
              <a:cs typeface="Times New Roman" panose="02020603050405020304" charset="0"/>
            </a:endParaRPr>
          </a:p>
          <a:p>
            <a:pPr lvl="1">
              <a:buFont typeface="Wingdings" panose="05000000000000000000" pitchFamily="2" charset="2"/>
              <a:buChar char="Ø"/>
            </a:pPr>
            <a:r>
              <a:rPr lang="uk-UA" altLang="ru-RU" dirty="0">
                <a:latin typeface="Times New Roman" panose="02020603050405020304" charset="0"/>
                <a:cs typeface="Times New Roman" panose="02020603050405020304" charset="0"/>
              </a:rPr>
              <a:t>We frequently have to stop at each traffic signal as we drive through a series of them.</a:t>
            </a:r>
            <a:endParaRPr lang="en-IN" altLang="ru-RU" dirty="0">
              <a:latin typeface="Times New Roman" panose="02020603050405020304" charset="0"/>
              <a:cs typeface="Times New Roman" panose="02020603050405020304" charset="0"/>
            </a:endParaRPr>
          </a:p>
          <a:p>
            <a:pPr lvl="1">
              <a:buFont typeface="Wingdings" panose="05000000000000000000" pitchFamily="2" charset="2"/>
              <a:buChar char="Ø"/>
            </a:pPr>
            <a:r>
              <a:rPr lang="uk-UA" altLang="ru-RU" dirty="0">
                <a:latin typeface="Times New Roman" panose="02020603050405020304" charset="0"/>
                <a:cs typeface="Times New Roman" panose="02020603050405020304" charset="0"/>
              </a:rPr>
              <a:t>Movement of Traffic not only result in an additional delay but also raise transportation expenses and fuel consumption.</a:t>
            </a:r>
            <a:endParaRPr lang="uk-UA" altLang="ru-RU" dirty="0">
              <a:latin typeface="Times New Roman" panose="02020603050405020304" charset="0"/>
              <a:cs typeface="Times New Roman" panose="02020603050405020304" charset="0"/>
            </a:endParaRPr>
          </a:p>
        </p:txBody>
      </p:sp>
      <p:sp>
        <p:nvSpPr>
          <p:cNvPr id="2" name="Дата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2E1757E7-75BD-409B-9347-DB0179007339}"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3" name="Нижний колонтитул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GB" altLang="ru-RU" sz="900" b="0" i="0" u="none" strike="noStrike" kern="1200" cap="none" spc="0" normalizeH="0" baseline="0" noProof="0">
                <a:ln>
                  <a:noFill/>
                </a:ln>
                <a:solidFill>
                  <a:schemeClr val="tx1"/>
                </a:solidFill>
                <a:effectLst/>
                <a:uLnTx/>
                <a:uFillTx/>
                <a:latin typeface="+mn-lt"/>
                <a:ea typeface="+mn-ea"/>
                <a:cs typeface="+mn-cs"/>
              </a:rPr>
              <a:t>Designed by PoweredTemplate.com</a:t>
            </a:r>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4000" dirty="0">
                <a:latin typeface="Times New Roman" panose="02020603050405020304" charset="0"/>
                <a:cs typeface="Times New Roman" panose="02020603050405020304" charset="0"/>
              </a:rPr>
              <a:t>               EXISTING SYSTEMS</a:t>
            </a:r>
            <a:endParaRPr lang="en-IN" altLang="en-US" sz="4000"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charset="0"/>
                <a:cs typeface="Times New Roman" panose="02020603050405020304" charset="0"/>
              </a:rPr>
              <a:t>Manual Controlling :- As the Name Suggests That's requires More Man Power to control Traffic and Traffic Police is allotted to each traffic signals and they have to control traffic.</a:t>
            </a:r>
            <a:endParaRPr lang="en-US" dirty="0">
              <a:latin typeface="Times New Roman" panose="02020603050405020304" charset="0"/>
              <a:cs typeface="Times New Roman" panose="02020603050405020304" charset="0"/>
            </a:endParaRPr>
          </a:p>
          <a:p>
            <a:pPr>
              <a:buFont typeface="Wingdings" panose="05000000000000000000" pitchFamily="2" charset="2"/>
              <a:buChar char="Ø"/>
            </a:pPr>
            <a:r>
              <a:rPr lang="en-US" dirty="0">
                <a:latin typeface="Times New Roman" panose="02020603050405020304" charset="0"/>
                <a:cs typeface="Times New Roman" panose="02020603050405020304" charset="0"/>
              </a:rPr>
              <a:t>Automatic Controlling :- Automatic Traffic Light is Controlled by the timer and electrical Sensors. The Light are getting automatically Getting ON and OFF.</a:t>
            </a:r>
            <a:endParaRPr lang="en-US" dirty="0">
              <a:latin typeface="Times New Roman" panose="02020603050405020304" charset="0"/>
              <a:cs typeface="Times New Roman" panose="02020603050405020304" charset="0"/>
            </a:endParaRPr>
          </a:p>
          <a:p>
            <a:pPr>
              <a:buFont typeface="Wingdings" panose="05000000000000000000" pitchFamily="2" charset="2"/>
              <a:buChar char="Ø"/>
            </a:pPr>
            <a:r>
              <a:rPr lang="en-US" dirty="0">
                <a:latin typeface="Times New Roman" panose="02020603050405020304" charset="0"/>
                <a:cs typeface="Times New Roman" panose="02020603050405020304" charset="0"/>
              </a:rPr>
              <a:t>Electronic Controlling :- In Electronic Controlling Method We have To placing some detector or sensors on the traffic area, and this sensors give data about the traffic Density and control the traffic signals</a:t>
            </a:r>
            <a:r>
              <a:rPr lang="en-US" dirty="0"/>
              <a:t>.</a:t>
            </a:r>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3600" dirty="0"/>
              <a:t>  </a:t>
            </a:r>
            <a:r>
              <a:rPr lang="en-IN" altLang="en-US" sz="2800" dirty="0">
                <a:latin typeface="Times New Roman" panose="02020603050405020304" charset="0"/>
                <a:cs typeface="Times New Roman" panose="02020603050405020304" charset="0"/>
              </a:rPr>
              <a:t>DRAWBACKS OF CUSTOMARY SOLUTIONS</a:t>
            </a:r>
            <a:endParaRPr lang="en-IN" altLang="en-US" sz="2800"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sz="2800" dirty="0">
                <a:latin typeface="Times New Roman" panose="02020603050405020304" charset="0"/>
                <a:cs typeface="Times New Roman" panose="02020603050405020304" charset="0"/>
              </a:rPr>
              <a:t>The Manual Controlling System is static and requires a large number of manpower.</a:t>
            </a:r>
            <a:endParaRPr lang="en-US" sz="2800" dirty="0">
              <a:latin typeface="Times New Roman" panose="02020603050405020304" charset="0"/>
              <a:cs typeface="Times New Roman" panose="02020603050405020304" charset="0"/>
            </a:endParaRPr>
          </a:p>
          <a:p>
            <a:pPr>
              <a:buFont typeface="Wingdings" panose="05000000000000000000" pitchFamily="2" charset="2"/>
              <a:buChar char="Ø"/>
            </a:pPr>
            <a:r>
              <a:rPr lang="en-US" sz="2800" dirty="0">
                <a:latin typeface="Times New Roman" panose="02020603050405020304" charset="0"/>
                <a:cs typeface="Times New Roman" panose="02020603050405020304" charset="0"/>
              </a:rPr>
              <a:t>They May cause a delay in the quick movement of traffic.</a:t>
            </a:r>
            <a:endParaRPr lang="en-US" sz="2800" dirty="0">
              <a:latin typeface="Times New Roman" panose="02020603050405020304" charset="0"/>
              <a:cs typeface="Times New Roman" panose="02020603050405020304" charset="0"/>
            </a:endParaRPr>
          </a:p>
          <a:p>
            <a:pPr>
              <a:buFont typeface="Wingdings" panose="05000000000000000000" pitchFamily="2" charset="2"/>
              <a:buChar char="Ø"/>
            </a:pPr>
            <a:r>
              <a:rPr lang="en-US" sz="2800" dirty="0">
                <a:latin typeface="Times New Roman" panose="02020603050405020304" charset="0"/>
                <a:cs typeface="Times New Roman" panose="02020603050405020304" charset="0"/>
              </a:rPr>
              <a:t>Electronic Sensors and detector are very expensive in cost, accuracy and coverage are often in conflict.</a:t>
            </a:r>
            <a:endParaRPr lang="en-US" sz="2800" dirty="0">
              <a:latin typeface="Times New Roman" panose="02020603050405020304" charset="0"/>
              <a:cs typeface="Times New Roman" panose="02020603050405020304" charset="0"/>
            </a:endParaRP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15" y="188595"/>
            <a:ext cx="9140825" cy="1250950"/>
          </a:xfrm>
        </p:spPr>
        <p:txBody>
          <a:bodyPr/>
          <a:lstStyle/>
          <a:p>
            <a:br>
              <a:rPr lang="en-US" sz="2800" dirty="0"/>
            </a:br>
            <a:r>
              <a:rPr lang="en-US" sz="2800" dirty="0">
                <a:latin typeface="Times New Roman" panose="02020603050405020304" charset="0"/>
                <a:cs typeface="Times New Roman" panose="02020603050405020304" charset="0"/>
              </a:rPr>
              <a:t>S</a:t>
            </a:r>
            <a:r>
              <a:rPr lang="en-IN" altLang="en-US" sz="2800" dirty="0">
                <a:latin typeface="Times New Roman" panose="02020603050405020304" charset="0"/>
                <a:cs typeface="Times New Roman" panose="02020603050405020304" charset="0"/>
              </a:rPr>
              <a:t>TEP</a:t>
            </a:r>
            <a:r>
              <a:rPr lang="en-US" sz="2800" dirty="0">
                <a:latin typeface="Times New Roman" panose="02020603050405020304" charset="0"/>
                <a:cs typeface="Times New Roman" panose="02020603050405020304" charset="0"/>
              </a:rPr>
              <a:t> </a:t>
            </a:r>
            <a:r>
              <a:rPr lang="en-IN" altLang="en-US" sz="2800" dirty="0">
                <a:latin typeface="Times New Roman" panose="02020603050405020304" charset="0"/>
                <a:cs typeface="Times New Roman" panose="02020603050405020304" charset="0"/>
              </a:rPr>
              <a:t>BY</a:t>
            </a:r>
            <a:r>
              <a:rPr lang="en-US" sz="2800" dirty="0">
                <a:latin typeface="Times New Roman" panose="02020603050405020304" charset="0"/>
                <a:cs typeface="Times New Roman" panose="02020603050405020304" charset="0"/>
              </a:rPr>
              <a:t> </a:t>
            </a:r>
            <a:r>
              <a:rPr lang="en-IN" altLang="en-US" sz="2800" dirty="0">
                <a:latin typeface="Times New Roman" panose="02020603050405020304" charset="0"/>
                <a:cs typeface="Times New Roman" panose="02020603050405020304" charset="0"/>
              </a:rPr>
              <a:t>STEP FLOWCHART OF PROPOSED SYSTEM</a:t>
            </a:r>
            <a:endParaRPr lang="en-IN" altLang="en-US" sz="2800"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flipV="1">
            <a:off x="5940152" y="7831629"/>
            <a:ext cx="2735536" cy="45719"/>
          </a:xfrm>
        </p:spPr>
        <p:txBody>
          <a:bodyPr/>
          <a:lstStyle/>
          <a:p>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5" name="Rectangle: Rounded Corners 4"/>
          <p:cNvSpPr/>
          <p:nvPr/>
        </p:nvSpPr>
        <p:spPr bwMode="auto">
          <a:xfrm>
            <a:off x="2735796" y="1772816"/>
            <a:ext cx="3708412" cy="720080"/>
          </a:xfrm>
          <a:prstGeom prst="round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IN" dirty="0">
                <a:solidFill>
                  <a:schemeClr val="bg1"/>
                </a:solidFill>
              </a:rPr>
              <a:t>Detecting vehicles and calculating traffic density</a:t>
            </a:r>
            <a:endParaRPr kumimoji="0" lang="en-IN" sz="1800" b="1" i="0" u="none" strike="noStrike" cap="none" normalizeH="0" baseline="0" dirty="0">
              <a:ln>
                <a:noFill/>
              </a:ln>
              <a:solidFill>
                <a:schemeClr val="bg1"/>
              </a:solidFill>
              <a:effectLst/>
              <a:latin typeface="Arial" panose="020B0604020202020204" pitchFamily="34" charset="0"/>
            </a:endParaRPr>
          </a:p>
        </p:txBody>
      </p:sp>
      <p:sp>
        <p:nvSpPr>
          <p:cNvPr id="6" name="Rectangle: Rounded Corners 5"/>
          <p:cNvSpPr/>
          <p:nvPr/>
        </p:nvSpPr>
        <p:spPr bwMode="auto">
          <a:xfrm>
            <a:off x="2717794" y="3079102"/>
            <a:ext cx="3708412" cy="720080"/>
          </a:xfrm>
          <a:prstGeom prst="round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IN" dirty="0"/>
              <a:t>Calculating green signal time based on density</a:t>
            </a:r>
            <a:endParaRPr kumimoji="0" lang="en-IN" sz="1800" b="1" i="0" u="none" strike="noStrike" cap="none" normalizeH="0" baseline="0" dirty="0">
              <a:ln>
                <a:noFill/>
              </a:ln>
              <a:solidFill>
                <a:schemeClr val="tx1"/>
              </a:solidFill>
              <a:effectLst/>
              <a:latin typeface="Arial" panose="020B0604020202020204" pitchFamily="34" charset="0"/>
            </a:endParaRPr>
          </a:p>
        </p:txBody>
      </p:sp>
      <p:sp>
        <p:nvSpPr>
          <p:cNvPr id="7" name="Rectangle: Rounded Corners 6"/>
          <p:cNvSpPr/>
          <p:nvPr/>
        </p:nvSpPr>
        <p:spPr bwMode="auto">
          <a:xfrm>
            <a:off x="2735796" y="4509120"/>
            <a:ext cx="3708412" cy="530870"/>
          </a:xfrm>
          <a:prstGeom prst="round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IN" dirty="0"/>
              <a:t>Time is scheduled at the server</a:t>
            </a:r>
            <a:endParaRPr kumimoji="0" lang="en-IN" sz="1800" b="1" i="0" u="none" strike="noStrike" cap="none" normalizeH="0" baseline="0" dirty="0">
              <a:ln>
                <a:noFill/>
              </a:ln>
              <a:solidFill>
                <a:schemeClr val="tx1"/>
              </a:solidFill>
              <a:effectLst/>
              <a:latin typeface="Arial" panose="020B0604020202020204" pitchFamily="34" charset="0"/>
            </a:endParaRPr>
          </a:p>
        </p:txBody>
      </p:sp>
      <p:sp>
        <p:nvSpPr>
          <p:cNvPr id="8" name="Rectangle: Rounded Corners 7"/>
          <p:cNvSpPr/>
          <p:nvPr/>
        </p:nvSpPr>
        <p:spPr bwMode="auto">
          <a:xfrm>
            <a:off x="2717794" y="5549971"/>
            <a:ext cx="3708412" cy="530870"/>
          </a:xfrm>
          <a:prstGeom prst="roundRect">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IN" sz="1800" b="1" i="0" u="none" strike="noStrike" cap="none" normalizeH="0" baseline="0" dirty="0">
                <a:ln>
                  <a:noFill/>
                </a:ln>
                <a:solidFill>
                  <a:schemeClr val="tx1"/>
                </a:solidFill>
                <a:effectLst/>
                <a:latin typeface="Arial" panose="020B0604020202020204" pitchFamily="34" charset="0"/>
              </a:rPr>
              <a:t>Traffic Signal Timer is updated</a:t>
            </a:r>
            <a:endParaRPr kumimoji="0" lang="en-IN" sz="1800" b="1" i="0" u="none" strike="noStrike" cap="none" normalizeH="0" baseline="0" dirty="0">
              <a:ln>
                <a:noFill/>
              </a:ln>
              <a:solidFill>
                <a:schemeClr val="tx1"/>
              </a:solidFill>
              <a:effectLst/>
              <a:latin typeface="Arial" panose="020B0604020202020204" pitchFamily="34" charset="0"/>
            </a:endParaRPr>
          </a:p>
        </p:txBody>
      </p:sp>
      <p:sp>
        <p:nvSpPr>
          <p:cNvPr id="9" name="Arrow: Down 8"/>
          <p:cNvSpPr/>
          <p:nvPr/>
        </p:nvSpPr>
        <p:spPr bwMode="auto">
          <a:xfrm>
            <a:off x="4124208" y="2478516"/>
            <a:ext cx="242316" cy="576064"/>
          </a:xfrm>
          <a:prstGeom prst="downArrow">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IN" sz="1800" b="1" i="0" u="none" strike="noStrike" cap="none" normalizeH="0" baseline="0">
              <a:ln>
                <a:noFill/>
              </a:ln>
              <a:solidFill>
                <a:schemeClr val="tx1"/>
              </a:solidFill>
              <a:effectLst/>
              <a:latin typeface="Arial" panose="020B0604020202020204" pitchFamily="34" charset="0"/>
            </a:endParaRPr>
          </a:p>
        </p:txBody>
      </p:sp>
      <p:sp>
        <p:nvSpPr>
          <p:cNvPr id="10" name="Arrow: Down 9"/>
          <p:cNvSpPr/>
          <p:nvPr/>
        </p:nvSpPr>
        <p:spPr bwMode="auto">
          <a:xfrm>
            <a:off x="4124208" y="3812825"/>
            <a:ext cx="242316" cy="696295"/>
          </a:xfrm>
          <a:prstGeom prst="downArrow">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IN" sz="1800" b="1" i="0" u="none" strike="noStrike" cap="none" normalizeH="0" baseline="0">
              <a:ln>
                <a:noFill/>
              </a:ln>
              <a:solidFill>
                <a:schemeClr val="tx1"/>
              </a:solidFill>
              <a:effectLst/>
              <a:latin typeface="Arial" panose="020B0604020202020204" pitchFamily="34" charset="0"/>
            </a:endParaRPr>
          </a:p>
        </p:txBody>
      </p:sp>
      <p:sp>
        <p:nvSpPr>
          <p:cNvPr id="11" name="Arrow: Down 10"/>
          <p:cNvSpPr/>
          <p:nvPr/>
        </p:nvSpPr>
        <p:spPr bwMode="auto">
          <a:xfrm>
            <a:off x="4124208" y="5039990"/>
            <a:ext cx="242316" cy="509981"/>
          </a:xfrm>
          <a:prstGeom prst="downArrow">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en-IN" sz="1800" b="1"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                         </a:t>
            </a:r>
            <a:r>
              <a:rPr lang="en-IN" altLang="en-US" sz="4000" dirty="0">
                <a:latin typeface="Times New Roman" panose="02020603050405020304" charset="0"/>
                <a:cs typeface="Times New Roman" panose="02020603050405020304" charset="0"/>
              </a:rPr>
              <a:t>PROPOSED SYSTEM</a:t>
            </a:r>
            <a:endParaRPr lang="en-IN" altLang="en-US" sz="4000"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68313" y="1416050"/>
            <a:ext cx="8207375" cy="4608513"/>
          </a:xfrm>
        </p:spPr>
        <p:txBody>
          <a:bodyPr/>
          <a:lstStyle/>
          <a:p>
            <a:pPr marL="0" indent="0">
              <a:buNone/>
            </a:pPr>
            <a:r>
              <a:rPr lang="en-IN" sz="2800" spc="-5" dirty="0">
                <a:effectLst/>
                <a:latin typeface="Times New Roman" panose="02020603050405020304" charset="0"/>
              </a:rPr>
              <a:t>A . Calculating</a:t>
            </a:r>
            <a:r>
              <a:rPr lang="en-IN" sz="2800" spc="-55" dirty="0">
                <a:effectLst/>
                <a:latin typeface="Times New Roman" panose="02020603050405020304" charset="0"/>
              </a:rPr>
              <a:t> </a:t>
            </a:r>
            <a:r>
              <a:rPr lang="en-IN" sz="2800" dirty="0">
                <a:effectLst/>
                <a:latin typeface="Times New Roman" panose="02020603050405020304" charset="0"/>
              </a:rPr>
              <a:t>Vehicle</a:t>
            </a:r>
            <a:r>
              <a:rPr lang="en-IN" sz="2800" spc="-30" dirty="0">
                <a:effectLst/>
                <a:latin typeface="Times New Roman" panose="02020603050405020304" charset="0"/>
              </a:rPr>
              <a:t> </a:t>
            </a:r>
            <a:r>
              <a:rPr lang="en-IN" sz="2800" dirty="0">
                <a:effectLst/>
                <a:latin typeface="Times New Roman" panose="02020603050405020304" charset="0"/>
              </a:rPr>
              <a:t>Density</a:t>
            </a:r>
            <a:endParaRPr lang="en-IN" sz="2800" dirty="0">
              <a:effectLst/>
              <a:latin typeface="Times New Roman" panose="02020603050405020304" charset="0"/>
            </a:endParaRPr>
          </a:p>
          <a:p>
            <a:pPr algn="l">
              <a:buFont typeface="Wingdings" panose="05000000000000000000" pitchFamily="2" charset="2"/>
              <a:buChar char="Ø"/>
            </a:pPr>
            <a:r>
              <a:rPr lang="en-US" b="0" i="0" dirty="0">
                <a:solidFill>
                  <a:srgbClr val="0D0D0D"/>
                </a:solidFill>
                <a:effectLst/>
                <a:highlight>
                  <a:srgbClr val="FFFFFF"/>
                </a:highlight>
                <a:latin typeface="Times New Roman" panose="02020603050405020304" charset="0"/>
                <a:cs typeface="Times New Roman" panose="02020603050405020304" charset="0"/>
              </a:rPr>
              <a:t>The function </a:t>
            </a:r>
            <a:r>
              <a:rPr lang="en-US" b="0" i="0" dirty="0" err="1">
                <a:solidFill>
                  <a:srgbClr val="0D0D0D"/>
                </a:solidFill>
                <a:effectLst/>
                <a:highlight>
                  <a:srgbClr val="FFFFFF"/>
                </a:highlight>
                <a:latin typeface="Times New Roman" panose="02020603050405020304" charset="0"/>
                <a:cs typeface="Times New Roman" panose="02020603050405020304" charset="0"/>
              </a:rPr>
              <a:t>set_Time</a:t>
            </a:r>
            <a:r>
              <a:rPr lang="en-US" b="0" i="0" dirty="0">
                <a:solidFill>
                  <a:srgbClr val="0D0D0D"/>
                </a:solidFill>
                <a:effectLst/>
                <a:highlight>
                  <a:srgbClr val="FFFFFF"/>
                </a:highlight>
                <a:latin typeface="Times New Roman" panose="02020603050405020304" charset="0"/>
                <a:cs typeface="Times New Roman" panose="02020603050405020304" charset="0"/>
              </a:rPr>
              <a:t>() adjusts signal timings based on vehicle quantity and type at the subsequent signal.</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b="0" i="0" dirty="0">
                <a:solidFill>
                  <a:srgbClr val="0D0D0D"/>
                </a:solidFill>
                <a:effectLst/>
                <a:highlight>
                  <a:srgbClr val="FFFFFF"/>
                </a:highlight>
                <a:latin typeface="Times New Roman" panose="02020603050405020304" charset="0"/>
                <a:cs typeface="Times New Roman" panose="02020603050405020304" charset="0"/>
              </a:rPr>
              <a:t>It initializes variables to count different vehicle types (cars, buses, trucks, rickshaws, bikes).</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b="0" i="0" dirty="0">
                <a:solidFill>
                  <a:srgbClr val="0D0D0D"/>
                </a:solidFill>
                <a:effectLst/>
                <a:highlight>
                  <a:srgbClr val="FFFFFF"/>
                </a:highlight>
                <a:latin typeface="Times New Roman" panose="02020603050405020304" charset="0"/>
                <a:cs typeface="Times New Roman" panose="02020603050405020304" charset="0"/>
              </a:rPr>
              <a:t>Counts for each vehicle type are incremented as vehicles are cycled through.</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b="0" i="0" dirty="0">
                <a:solidFill>
                  <a:srgbClr val="0D0D0D"/>
                </a:solidFill>
                <a:effectLst/>
                <a:highlight>
                  <a:srgbClr val="FFFFFF"/>
                </a:highlight>
                <a:latin typeface="Times New Roman" panose="02020603050405020304" charset="0"/>
                <a:cs typeface="Times New Roman" panose="02020603050405020304" charset="0"/>
              </a:rPr>
              <a:t>Total time for green signal is computed considering counts of vehicle categories.</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b="0" i="0" dirty="0">
                <a:solidFill>
                  <a:srgbClr val="0D0D0D"/>
                </a:solidFill>
                <a:effectLst/>
                <a:highlight>
                  <a:srgbClr val="FFFFFF"/>
                </a:highlight>
                <a:latin typeface="Times New Roman" panose="02020603050405020304" charset="0"/>
                <a:cs typeface="Times New Roman" panose="02020603050405020304" charset="0"/>
              </a:rPr>
              <a:t>Average time for each vehicle type to pass intersection is factored into the computation.</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b="0" i="0" dirty="0">
                <a:solidFill>
                  <a:srgbClr val="0D0D0D"/>
                </a:solidFill>
                <a:effectLst/>
                <a:highlight>
                  <a:srgbClr val="FFFFFF"/>
                </a:highlight>
                <a:latin typeface="Times New Roman" panose="02020603050405020304" charset="0"/>
                <a:cs typeface="Times New Roman" panose="02020603050405020304" charset="0"/>
              </a:rPr>
              <a:t>Debugging feature prints the computed green time for each signal change cycle.</a:t>
            </a:r>
            <a:endParaRPr lang="en-US" b="0" i="0" dirty="0">
              <a:solidFill>
                <a:srgbClr val="0D0D0D"/>
              </a:solidFill>
              <a:effectLst/>
              <a:highlight>
                <a:srgbClr val="FFFFFF"/>
              </a:highlight>
              <a:latin typeface="Times New Roman" panose="02020603050405020304" charset="0"/>
              <a:cs typeface="Times New Roman" panose="02020603050405020304" charset="0"/>
            </a:endParaRPr>
          </a:p>
          <a:p>
            <a:pPr marL="0" indent="0">
              <a:buNone/>
            </a:pPr>
            <a:endParaRPr lang="en-IN" dirty="0">
              <a:effectLst/>
              <a:latin typeface="Times New Roman" panose="02020603050405020304" charset="0"/>
            </a:endParaRPr>
          </a:p>
          <a:p>
            <a:endParaRPr lang="en-US"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620688"/>
            <a:ext cx="8207375" cy="576063"/>
          </a:xfrm>
        </p:spPr>
        <p:txBody>
          <a:bodyPr/>
          <a:lstStyle/>
          <a:p>
            <a:endParaRPr lang="en-IN" sz="2400" dirty="0"/>
          </a:p>
        </p:txBody>
      </p:sp>
      <p:sp>
        <p:nvSpPr>
          <p:cNvPr id="3" name="Content Placeholder 2"/>
          <p:cNvSpPr>
            <a:spLocks noGrp="1"/>
          </p:cNvSpPr>
          <p:nvPr>
            <p:ph idx="1"/>
          </p:nvPr>
        </p:nvSpPr>
        <p:spPr>
          <a:xfrm>
            <a:off x="410299" y="332656"/>
            <a:ext cx="8207375" cy="6120532"/>
          </a:xfrm>
        </p:spPr>
        <p:txBody>
          <a:bodyPr/>
          <a:lstStyle/>
          <a:p>
            <a:pPr marL="0" indent="0">
              <a:buNone/>
            </a:pPr>
            <a:r>
              <a:rPr lang="en-IN" sz="3600" dirty="0" err="1">
                <a:effectLst/>
                <a:latin typeface="Times New Roman" panose="02020603050405020304" charset="0"/>
              </a:rPr>
              <a:t>B.Signal</a:t>
            </a:r>
            <a:r>
              <a:rPr lang="en-IN" sz="3600" spc="-5" dirty="0">
                <a:effectLst/>
                <a:latin typeface="Times New Roman" panose="02020603050405020304" charset="0"/>
              </a:rPr>
              <a:t> </a:t>
            </a:r>
            <a:r>
              <a:rPr lang="en-IN" sz="3600" dirty="0">
                <a:effectLst/>
                <a:latin typeface="Times New Roman" panose="02020603050405020304" charset="0"/>
              </a:rPr>
              <a:t>Switching</a:t>
            </a:r>
            <a:r>
              <a:rPr lang="en-IN" sz="3600" spc="-60" dirty="0">
                <a:effectLst/>
                <a:latin typeface="Times New Roman" panose="02020603050405020304" charset="0"/>
              </a:rPr>
              <a:t> </a:t>
            </a:r>
            <a:r>
              <a:rPr lang="en-IN" sz="3600" dirty="0">
                <a:effectLst/>
                <a:latin typeface="Times New Roman" panose="02020603050405020304" charset="0"/>
              </a:rPr>
              <a:t>Algorithm</a:t>
            </a:r>
            <a:endParaRPr lang="en-IN" sz="3600" dirty="0">
              <a:effectLst/>
              <a:latin typeface="Times New Roman" panose="02020603050405020304" charset="0"/>
            </a:endParaRPr>
          </a:p>
          <a:p>
            <a:pPr algn="l">
              <a:buFont typeface="+mj-lt"/>
              <a:buAutoNum type="arabicPeriod"/>
            </a:pPr>
            <a:endParaRPr lang="en-US" b="0" i="0" dirty="0">
              <a:solidFill>
                <a:srgbClr val="0D0D0D"/>
              </a:solidFill>
              <a:effectLst/>
              <a:highlight>
                <a:srgbClr val="FFFFFF"/>
              </a:highlight>
              <a:latin typeface="Söhne"/>
            </a:endParaRPr>
          </a:p>
          <a:p>
            <a:pPr algn="l">
              <a:buFont typeface="+mj-lt"/>
              <a:buAutoNum type="arabicPeriod"/>
            </a:pPr>
            <a:endParaRPr lang="en-US" dirty="0">
              <a:solidFill>
                <a:srgbClr val="0D0D0D"/>
              </a:solidFill>
              <a:highlight>
                <a:srgbClr val="FFFFFF"/>
              </a:highlight>
              <a:latin typeface="Söhne"/>
            </a:endParaRPr>
          </a:p>
          <a:p>
            <a:pPr algn="l">
              <a:buFont typeface="Wingdings" panose="05000000000000000000" pitchFamily="2" charset="2"/>
              <a:buChar char="Ø"/>
            </a:pPr>
            <a:r>
              <a:rPr lang="en-US" sz="2400" b="0" i="0" dirty="0">
                <a:solidFill>
                  <a:srgbClr val="0D0D0D"/>
                </a:solidFill>
                <a:effectLst/>
                <a:highlight>
                  <a:srgbClr val="FFFFFF"/>
                </a:highlight>
                <a:latin typeface="Times New Roman" panose="02020603050405020304" charset="0"/>
                <a:cs typeface="Times New Roman" panose="02020603050405020304" charset="0"/>
              </a:rPr>
              <a:t>Intersection features multiple signals cycling through green, yellow, and red phases.</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sz="2400" b="0" i="0" dirty="0">
                <a:solidFill>
                  <a:srgbClr val="0D0D0D"/>
                </a:solidFill>
                <a:effectLst/>
                <a:highlight>
                  <a:srgbClr val="FFFFFF"/>
                </a:highlight>
                <a:latin typeface="Times New Roman" panose="02020603050405020304" charset="0"/>
                <a:cs typeface="Times New Roman" panose="02020603050405020304" charset="0"/>
              </a:rPr>
              <a:t>Green allows movement in its direction; others remain red for safety.</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sz="2400" b="0" i="0" dirty="0">
                <a:solidFill>
                  <a:srgbClr val="0D0D0D"/>
                </a:solidFill>
                <a:effectLst/>
                <a:highlight>
                  <a:srgbClr val="FFFFFF"/>
                </a:highlight>
                <a:latin typeface="Times New Roman" panose="02020603050405020304" charset="0"/>
                <a:cs typeface="Times New Roman" panose="02020603050405020304" charset="0"/>
              </a:rPr>
              <a:t>Yellow signals upcoming changes, preparing for the next green phase.</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sz="2400" b="0" i="0" dirty="0">
                <a:solidFill>
                  <a:srgbClr val="0D0D0D"/>
                </a:solidFill>
                <a:effectLst/>
                <a:highlight>
                  <a:srgbClr val="FFFFFF"/>
                </a:highlight>
                <a:latin typeface="Times New Roman" panose="02020603050405020304" charset="0"/>
                <a:cs typeface="Times New Roman" panose="02020603050405020304" charset="0"/>
              </a:rPr>
              <a:t>Signal timing regulated by predefined parameters like </a:t>
            </a:r>
            <a:r>
              <a:rPr lang="en-US" sz="2400" b="0" i="0" dirty="0" err="1">
                <a:solidFill>
                  <a:srgbClr val="0D0D0D"/>
                </a:solidFill>
                <a:effectLst/>
                <a:highlight>
                  <a:srgbClr val="FFFFFF"/>
                </a:highlight>
                <a:latin typeface="Times New Roman" panose="02020603050405020304" charset="0"/>
                <a:cs typeface="Times New Roman" panose="02020603050405020304" charset="0"/>
              </a:rPr>
              <a:t>default_Red</a:t>
            </a:r>
            <a:r>
              <a:rPr lang="en-US" sz="2400" b="0" i="0" dirty="0">
                <a:solidFill>
                  <a:srgbClr val="0D0D0D"/>
                </a:solidFill>
                <a:effectLst/>
                <a:highlight>
                  <a:srgbClr val="FFFFFF"/>
                </a:highlight>
                <a:latin typeface="Times New Roman" panose="02020603050405020304" charset="0"/>
                <a:cs typeface="Times New Roman" panose="02020603050405020304" charset="0"/>
              </a:rPr>
              <a:t>, </a:t>
            </a:r>
            <a:r>
              <a:rPr lang="en-US" sz="2400" b="0" i="0" dirty="0" err="1">
                <a:solidFill>
                  <a:srgbClr val="0D0D0D"/>
                </a:solidFill>
                <a:effectLst/>
                <a:highlight>
                  <a:srgbClr val="FFFFFF"/>
                </a:highlight>
                <a:latin typeface="Times New Roman" panose="02020603050405020304" charset="0"/>
                <a:cs typeface="Times New Roman" panose="02020603050405020304" charset="0"/>
              </a:rPr>
              <a:t>default_Yellow</a:t>
            </a:r>
            <a:r>
              <a:rPr lang="en-US" sz="2400" b="0" i="0" dirty="0">
                <a:solidFill>
                  <a:srgbClr val="0D0D0D"/>
                </a:solidFill>
                <a:effectLst/>
                <a:highlight>
                  <a:srgbClr val="FFFFFF"/>
                </a:highlight>
                <a:latin typeface="Times New Roman" panose="02020603050405020304" charset="0"/>
                <a:cs typeface="Times New Roman" panose="02020603050405020304" charset="0"/>
              </a:rPr>
              <a:t>.</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sz="2400" b="0" i="0" dirty="0">
                <a:solidFill>
                  <a:srgbClr val="0D0D0D"/>
                </a:solidFill>
                <a:effectLst/>
                <a:highlight>
                  <a:srgbClr val="FFFFFF"/>
                </a:highlight>
                <a:latin typeface="Times New Roman" panose="02020603050405020304" charset="0"/>
                <a:cs typeface="Times New Roman" panose="02020603050405020304" charset="0"/>
              </a:rPr>
              <a:t>Algorithm considers processing time, lane count, vehicle volume, and traffic density.</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sz="2400" b="0" i="0" dirty="0">
                <a:solidFill>
                  <a:srgbClr val="0D0D0D"/>
                </a:solidFill>
                <a:effectLst/>
                <a:highlight>
                  <a:srgbClr val="FFFFFF"/>
                </a:highlight>
                <a:latin typeface="Times New Roman" panose="02020603050405020304" charset="0"/>
                <a:cs typeface="Times New Roman" panose="02020603050405020304" charset="0"/>
              </a:rPr>
              <a:t>Preset sequence maintains order, minimizing confusion for drivers.</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marL="0" indent="0">
              <a:buNone/>
            </a:pPr>
            <a:endParaRPr lang="en-IN"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395536" y="404664"/>
            <a:ext cx="8207375" cy="5688633"/>
          </a:xfrm>
        </p:spPr>
        <p:txBody>
          <a:bodyPr/>
          <a:lstStyle/>
          <a:p>
            <a:pPr marL="0" marR="0" algn="l">
              <a:spcBef>
                <a:spcPts val="30"/>
              </a:spcBef>
              <a:spcAft>
                <a:spcPts val="0"/>
              </a:spcAft>
            </a:pPr>
            <a:endParaRPr lang="en-IN" sz="1800" dirty="0">
              <a:effectLst/>
              <a:latin typeface="Times New Roman" panose="02020603050405020304" charset="0"/>
            </a:endParaRPr>
          </a:p>
          <a:p>
            <a:pPr marL="0" marR="0" indent="0" algn="just">
              <a:spcBef>
                <a:spcPts val="0"/>
              </a:spcBef>
              <a:spcAft>
                <a:spcPts val="0"/>
              </a:spcAft>
              <a:buNone/>
            </a:pPr>
            <a:r>
              <a:rPr lang="en-IN" sz="3600" dirty="0">
                <a:effectLst/>
                <a:latin typeface="Times New Roman" panose="02020603050405020304" charset="0"/>
              </a:rPr>
              <a:t>C.</a:t>
            </a:r>
            <a:r>
              <a:rPr lang="en-IN" sz="3600" spc="-5" dirty="0">
                <a:effectLst/>
                <a:latin typeface="Times New Roman" panose="02020603050405020304" charset="0"/>
              </a:rPr>
              <a:t> </a:t>
            </a:r>
            <a:r>
              <a:rPr lang="en-IN" sz="3600" dirty="0">
                <a:effectLst/>
                <a:latin typeface="Times New Roman" panose="02020603050405020304" charset="0"/>
              </a:rPr>
              <a:t>Simulation</a:t>
            </a:r>
            <a:endParaRPr lang="en-IN" sz="3600" dirty="0">
              <a:effectLst/>
              <a:latin typeface="Times New Roman" panose="02020603050405020304" charset="0"/>
            </a:endParaRPr>
          </a:p>
          <a:p>
            <a:pPr algn="l">
              <a:buFont typeface="Wingdings" panose="05000000000000000000" pitchFamily="2" charset="2"/>
              <a:buChar char="Ø"/>
            </a:pPr>
            <a:r>
              <a:rPr lang="en-US" sz="2400" b="0" i="0" dirty="0" err="1">
                <a:solidFill>
                  <a:srgbClr val="0D0D0D"/>
                </a:solidFill>
                <a:effectLst/>
                <a:highlight>
                  <a:srgbClr val="FFFFFF"/>
                </a:highlight>
                <a:latin typeface="Times New Roman" panose="02020603050405020304" charset="0"/>
                <a:cs typeface="Times New Roman" panose="02020603050405020304" charset="0"/>
              </a:rPr>
              <a:t>Pygame</a:t>
            </a:r>
            <a:r>
              <a:rPr lang="en-US" sz="2400" b="0" i="0" dirty="0">
                <a:solidFill>
                  <a:srgbClr val="0D0D0D"/>
                </a:solidFill>
                <a:effectLst/>
                <a:highlight>
                  <a:srgbClr val="FFFFFF"/>
                </a:highlight>
                <a:latin typeface="Times New Roman" panose="02020603050405020304" charset="0"/>
                <a:cs typeface="Times New Roman" panose="02020603050405020304" charset="0"/>
              </a:rPr>
              <a:t> used to create real-world traffic simulation for enhanced visualization.</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sz="2400" b="0" i="0" dirty="0">
                <a:solidFill>
                  <a:srgbClr val="0D0D0D"/>
                </a:solidFill>
                <a:effectLst/>
                <a:highlight>
                  <a:srgbClr val="FFFFFF"/>
                </a:highlight>
                <a:latin typeface="Times New Roman" panose="02020603050405020304" charset="0"/>
                <a:cs typeface="Times New Roman" panose="02020603050405020304" charset="0"/>
              </a:rPr>
              <a:t>Four-way stop simulation includes timers at each signal for signal changes.</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sz="2400" b="0" i="0" dirty="0">
                <a:solidFill>
                  <a:srgbClr val="0D0D0D"/>
                </a:solidFill>
                <a:effectLst/>
                <a:highlight>
                  <a:srgbClr val="FFFFFF"/>
                </a:highlight>
                <a:latin typeface="Times New Roman" panose="02020603050405020304" charset="0"/>
                <a:cs typeface="Times New Roman" panose="02020603050405020304" charset="0"/>
              </a:rPr>
              <a:t>Variety of vehicles such as cars, motorbikes, buses, trucks, and rickshaws included.</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sz="2400" b="0" i="0" dirty="0">
                <a:solidFill>
                  <a:srgbClr val="0D0D0D"/>
                </a:solidFill>
                <a:effectLst/>
                <a:highlight>
                  <a:srgbClr val="FFFFFF"/>
                </a:highlight>
                <a:latin typeface="Times New Roman" panose="02020603050405020304" charset="0"/>
                <a:cs typeface="Times New Roman" panose="02020603050405020304" charset="0"/>
              </a:rPr>
              <a:t>Some far-right lane vehicles turn at intersection to mimic real-life scenarios.</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sz="2400" b="0" i="0" dirty="0">
                <a:solidFill>
                  <a:srgbClr val="0D0D0D"/>
                </a:solidFill>
                <a:effectLst/>
                <a:highlight>
                  <a:srgbClr val="FFFFFF"/>
                </a:highlight>
                <a:latin typeface="Times New Roman" panose="02020603050405020304" charset="0"/>
                <a:cs typeface="Times New Roman" panose="02020603050405020304" charset="0"/>
              </a:rPr>
              <a:t>Random numbers used in vehicle construction for increased variability.</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algn="l">
              <a:buFont typeface="Wingdings" panose="05000000000000000000" pitchFamily="2" charset="2"/>
              <a:buChar char="Ø"/>
            </a:pPr>
            <a:r>
              <a:rPr lang="en-US" sz="2400" b="0" i="0" dirty="0">
                <a:solidFill>
                  <a:srgbClr val="0D0D0D"/>
                </a:solidFill>
                <a:effectLst/>
                <a:highlight>
                  <a:srgbClr val="FFFFFF"/>
                </a:highlight>
                <a:latin typeface="Times New Roman" panose="02020603050405020304" charset="0"/>
                <a:cs typeface="Times New Roman" panose="02020603050405020304" charset="0"/>
              </a:rPr>
              <a:t>Timers on vehicles display elapsed simulation time for monitoring.</a:t>
            </a:r>
            <a:endParaRPr lang="en-US" sz="2400" b="0" i="0" dirty="0">
              <a:solidFill>
                <a:srgbClr val="0D0D0D"/>
              </a:solidFill>
              <a:effectLst/>
              <a:highlight>
                <a:srgbClr val="FFFFFF"/>
              </a:highlight>
              <a:latin typeface="Times New Roman" panose="02020603050405020304" charset="0"/>
              <a:cs typeface="Times New Roman" panose="02020603050405020304" charset="0"/>
            </a:endParaRPr>
          </a:p>
          <a:p>
            <a:pPr marL="0" indent="0">
              <a:buNone/>
            </a:pPr>
            <a:endParaRPr lang="en-IN"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4000" dirty="0"/>
              <a:t>ADVANTAGES OF PROPOSED SYSTEM</a:t>
            </a:r>
            <a:endParaRPr lang="en-IN" altLang="en-US" sz="4000"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sz="2800" dirty="0">
                <a:latin typeface="Times New Roman" panose="02020603050405020304" charset="0"/>
                <a:cs typeface="Times New Roman" panose="02020603050405020304" charset="0"/>
              </a:rPr>
              <a:t>Autonomous: There are no need of the Manpower</a:t>
            </a:r>
            <a:endParaRPr lang="en-US" sz="2800" dirty="0">
              <a:latin typeface="Times New Roman" panose="02020603050405020304" charset="0"/>
              <a:cs typeface="Times New Roman" panose="02020603050405020304" charset="0"/>
            </a:endParaRPr>
          </a:p>
          <a:p>
            <a:pPr>
              <a:buFont typeface="Wingdings" panose="05000000000000000000" pitchFamily="2" charset="2"/>
              <a:buChar char="Ø"/>
            </a:pPr>
            <a:r>
              <a:rPr lang="en-US" sz="2800" dirty="0">
                <a:latin typeface="Times New Roman" panose="02020603050405020304" charset="0"/>
                <a:cs typeface="Times New Roman" panose="02020603050405020304" charset="0"/>
              </a:rPr>
              <a:t>Dynamic System, Manages Traffic light switching according to current traffic density.</a:t>
            </a:r>
            <a:endParaRPr lang="en-US" sz="2800" dirty="0">
              <a:latin typeface="Times New Roman" panose="02020603050405020304" charset="0"/>
              <a:cs typeface="Times New Roman" panose="02020603050405020304" charset="0"/>
            </a:endParaRPr>
          </a:p>
          <a:p>
            <a:pPr>
              <a:buFont typeface="Wingdings" panose="05000000000000000000" pitchFamily="2" charset="2"/>
              <a:buChar char="Ø"/>
            </a:pPr>
            <a:r>
              <a:rPr lang="en-US" sz="2800" dirty="0">
                <a:latin typeface="Times New Roman" panose="02020603050405020304" charset="0"/>
                <a:cs typeface="Times New Roman" panose="02020603050405020304" charset="0"/>
              </a:rPr>
              <a:t>Less expensive than other solutions.</a:t>
            </a:r>
            <a:endParaRPr lang="en-US" sz="2800" dirty="0">
              <a:latin typeface="Times New Roman" panose="02020603050405020304" charset="0"/>
              <a:cs typeface="Times New Roman" panose="02020603050405020304" charset="0"/>
            </a:endParaRPr>
          </a:p>
          <a:p>
            <a:pPr>
              <a:buFont typeface="Wingdings" panose="05000000000000000000" pitchFamily="2" charset="2"/>
              <a:buChar char="Ø"/>
            </a:pPr>
            <a:r>
              <a:rPr lang="en-US" sz="2800" dirty="0">
                <a:latin typeface="Times New Roman" panose="02020603050405020304" charset="0"/>
                <a:cs typeface="Times New Roman" panose="02020603050405020304" charset="0"/>
              </a:rPr>
              <a:t>There are no need to new hardware to be installed</a:t>
            </a:r>
            <a:r>
              <a:rPr lang="en-US" dirty="0">
                <a:latin typeface="Times New Roman" panose="02020603050405020304" charset="0"/>
                <a:cs typeface="Times New Roman" panose="02020603050405020304" charset="0"/>
              </a:rPr>
              <a:t>.</a:t>
            </a:r>
            <a:endParaRPr lang="en-US" dirty="0">
              <a:latin typeface="Times New Roman" panose="02020603050405020304" charset="0"/>
              <a:cs typeface="Times New Roman" panose="02020603050405020304" charset="0"/>
            </a:endParaRP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solidFill>
                  <a:schemeClr val="tx2">
                    <a:lumMod val="75000"/>
                  </a:schemeClr>
                </a:solidFill>
                <a:latin typeface="Times New Roman" panose="02020603050405020304" charset="0"/>
                <a:cs typeface="Times New Roman" panose="02020603050405020304" charset="0"/>
              </a:rPr>
              <a:t>                             </a:t>
            </a:r>
            <a:r>
              <a:rPr lang="en-IN" altLang="en-US" sz="4400" dirty="0">
                <a:solidFill>
                  <a:schemeClr val="tx2">
                    <a:lumMod val="75000"/>
                  </a:schemeClr>
                </a:solidFill>
                <a:latin typeface="Times New Roman" panose="02020603050405020304" charset="0"/>
                <a:cs typeface="Times New Roman" panose="02020603050405020304" charset="0"/>
              </a:rPr>
              <a:t>RESULTS</a:t>
            </a:r>
            <a:endParaRPr lang="en-IN" altLang="en-US" sz="4400" dirty="0">
              <a:solidFill>
                <a:schemeClr val="tx2">
                  <a:lumMod val="75000"/>
                </a:schemeClr>
              </a:solidFill>
              <a:latin typeface="Times New Roman" panose="02020603050405020304" charset="0"/>
              <a:cs typeface="Times New Roman" panose="02020603050405020304" charset="0"/>
            </a:endParaRPr>
          </a:p>
        </p:txBody>
      </p:sp>
      <p:pic>
        <p:nvPicPr>
          <p:cNvPr id="5" name="Content Placeholder 4" descr="Comparison"/>
          <p:cNvPicPr>
            <a:picLocks noGrp="1" noChangeAspect="1"/>
          </p:cNvPicPr>
          <p:nvPr>
            <p:ph idx="1"/>
          </p:nvPr>
        </p:nvPicPr>
        <p:blipFill>
          <a:blip r:embed="rId1"/>
          <a:stretch>
            <a:fillRect/>
          </a:stretch>
        </p:blipFill>
        <p:spPr>
          <a:xfrm>
            <a:off x="468630" y="3572510"/>
            <a:ext cx="8207375" cy="2671445"/>
          </a:xfrm>
          <a:prstGeom prst="rect">
            <a:avLst/>
          </a:prstGeom>
        </p:spPr>
      </p:pic>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
        <p:nvSpPr>
          <p:cNvPr id="6" name="Text Box 5"/>
          <p:cNvSpPr txBox="1"/>
          <p:nvPr/>
        </p:nvSpPr>
        <p:spPr>
          <a:xfrm>
            <a:off x="468630" y="1211421"/>
            <a:ext cx="8675370" cy="1815465"/>
          </a:xfrm>
          <a:prstGeom prst="rect">
            <a:avLst/>
          </a:prstGeom>
          <a:noFill/>
        </p:spPr>
        <p:txBody>
          <a:bodyPr wrap="square" rtlCol="0" anchor="t">
            <a:noAutofit/>
          </a:bodyPr>
          <a:lstStyle/>
          <a:p>
            <a:r>
              <a:rPr lang="en-US" sz="2800" dirty="0">
                <a:latin typeface="Times New Roman" panose="02020603050405020304" charset="0"/>
                <a:cs typeface="Times New Roman" panose="02020603050405020304" charset="0"/>
              </a:rPr>
              <a:t>A total of 12 simulations were carried out, each lasting for 5 minutes.</a:t>
            </a:r>
            <a:endParaRPr lang="en-US" sz="2800" dirty="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4800" dirty="0"/>
              <a:t>                 </a:t>
            </a:r>
            <a:endParaRPr lang="en-IN" altLang="en-US" sz="4800" dirty="0"/>
          </a:p>
        </p:txBody>
      </p:sp>
      <p:sp>
        <p:nvSpPr>
          <p:cNvPr id="3" name="Content Placeholder 2"/>
          <p:cNvSpPr>
            <a:spLocks noGrp="1"/>
          </p:cNvSpPr>
          <p:nvPr>
            <p:ph idx="1"/>
          </p:nvPr>
        </p:nvSpPr>
        <p:spPr>
          <a:xfrm>
            <a:off x="457201" y="764704"/>
            <a:ext cx="8218488" cy="5040559"/>
          </a:xfrm>
        </p:spPr>
        <p:txBody>
          <a:bodyPr/>
          <a:lstStyle/>
          <a:p>
            <a:pPr>
              <a:spcBef>
                <a:spcPts val="600"/>
              </a:spcBef>
              <a:buSzTx/>
              <a:buFont typeface="Wingdings" panose="05000000000000000000" charset="0"/>
              <a:buChar char="Ø"/>
              <a:defRPr sz="2800">
                <a:latin typeface="Times New Roman" panose="02020603050405020304"/>
                <a:ea typeface="Times New Roman" panose="02020603050405020304"/>
                <a:cs typeface="Times New Roman" panose="02020603050405020304"/>
                <a:sym typeface="Times New Roman" panose="02020603050405020304"/>
              </a:defRPr>
            </a:pPr>
            <a:r>
              <a:rPr lang="en-US" sz="2800" dirty="0"/>
              <a:t>Our implemented system could pass 3193 vehicles in an hour compared to 2356 vehicles in the static system, which is an increase of 837 vehicles.</a:t>
            </a:r>
            <a:endParaRPr lang="en-US" sz="2800" dirty="0"/>
          </a:p>
          <a:p>
            <a:pPr>
              <a:spcBef>
                <a:spcPts val="600"/>
              </a:spcBef>
              <a:buSzTx/>
              <a:buFont typeface="Wingdings" panose="05000000000000000000" charset="0"/>
              <a:buChar char="Ø"/>
              <a:defRPr sz="2800">
                <a:latin typeface="Times New Roman" panose="02020603050405020304"/>
                <a:ea typeface="Times New Roman" panose="02020603050405020304"/>
                <a:cs typeface="Times New Roman" panose="02020603050405020304"/>
                <a:sym typeface="Times New Roman" panose="02020603050405020304"/>
              </a:defRPr>
            </a:pPr>
            <a:r>
              <a:rPr lang="en-US" sz="2800" dirty="0"/>
              <a:t>This translates to an increase in performance by 35% of the AI enabled traffic light system. </a:t>
            </a:r>
            <a:endParaRPr lang="en-US" sz="2800" dirty="0"/>
          </a:p>
          <a:p>
            <a:pPr>
              <a:spcBef>
                <a:spcPts val="600"/>
              </a:spcBef>
              <a:buSzTx/>
              <a:buFont typeface="Wingdings" panose="05000000000000000000" charset="0"/>
              <a:buChar char="Ø"/>
              <a:defRPr sz="2800">
                <a:latin typeface="Times New Roman" panose="02020603050405020304"/>
                <a:ea typeface="Times New Roman" panose="02020603050405020304"/>
                <a:cs typeface="Times New Roman" panose="02020603050405020304"/>
                <a:sym typeface="Times New Roman" panose="02020603050405020304"/>
              </a:defRPr>
            </a:pPr>
            <a:r>
              <a:rPr lang="en-US" sz="2800" dirty="0"/>
              <a:t>On an average 70 more vehicles can pass in every simulation</a:t>
            </a:r>
            <a:endParaRPr lang="en-US" sz="2800" dirty="0"/>
          </a:p>
          <a:p>
            <a:pPr marL="0" indent="0">
              <a:buNone/>
            </a:pPr>
            <a:endParaRPr lang="en-IN" altLang="en-US" sz="2800"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66C408D-07C2-4EAF-9FBF-FEE536C8C4E3}"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en-GB" altLang="ru-RU" sz="900" b="0" i="0" u="none" strike="noStrike" kern="1200" cap="none" spc="0" normalizeH="0" baseline="0" noProof="0">
              <a:ln>
                <a:noFill/>
              </a:ln>
              <a:solidFill>
                <a:schemeClr val="tx1"/>
              </a:solidFill>
              <a:effectLst/>
              <a:uLnTx/>
              <a:uFillTx/>
              <a:latin typeface="+mn-lt"/>
              <a:ea typeface="+mn-ea"/>
              <a:cs typeface="+mn-cs"/>
            </a:endParaRPr>
          </a:p>
        </p:txBody>
      </p:sp>
      <p:pic>
        <p:nvPicPr>
          <p:cNvPr id="5" name="Picture 4"/>
          <p:cNvPicPr>
            <a:picLocks noChangeAspect="1"/>
          </p:cNvPicPr>
          <p:nvPr/>
        </p:nvPicPr>
        <p:blipFill>
          <a:blip r:embed="rId1"/>
          <a:stretch>
            <a:fillRect/>
          </a:stretch>
        </p:blipFill>
        <p:spPr>
          <a:xfrm>
            <a:off x="179705" y="44450"/>
            <a:ext cx="8891270" cy="63112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FF4B9F8D-D9A5-4E26-97A6-FA326E9F2DDB}" type="slidenum">
              <a:rPr kumimoji="0" lang="ru-RU" altLang="ru-RU" sz="900" b="0" i="0" u="none" strike="noStrike" kern="1200" cap="none" spc="0" normalizeH="0" baseline="0" noProof="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
        <p:nvSpPr>
          <p:cNvPr id="7171" name="Rectangle 2"/>
          <p:cNvSpPr>
            <a:spLocks noGrp="1"/>
          </p:cNvSpPr>
          <p:nvPr>
            <p:ph type="title"/>
          </p:nvPr>
        </p:nvSpPr>
        <p:spPr>
          <a:xfrm>
            <a:off x="1908175" y="476250"/>
            <a:ext cx="6840538" cy="709613"/>
          </a:xfrm>
        </p:spPr>
        <p:txBody>
          <a:bodyPr vert="horz" wrap="square" lIns="91440" tIns="45720" rIns="91440" bIns="45720" anchor="ctr" anchorCtr="0"/>
          <a:lstStyle/>
          <a:p>
            <a:pPr eaLnBrk="1" hangingPunct="1">
              <a:buNone/>
            </a:pPr>
            <a:r>
              <a:rPr lang="en-IN" altLang="en-US" dirty="0">
                <a:solidFill>
                  <a:schemeClr val="tx2">
                    <a:lumMod val="75000"/>
                  </a:schemeClr>
                </a:solidFill>
              </a:rPr>
              <a:t>                   </a:t>
            </a:r>
            <a:r>
              <a:rPr lang="en-IN" altLang="en-US" dirty="0">
                <a:solidFill>
                  <a:schemeClr val="tx2">
                    <a:lumMod val="75000"/>
                  </a:schemeClr>
                </a:solidFill>
                <a:latin typeface="Times New Roman" panose="02020603050405020304" charset="0"/>
                <a:cs typeface="Times New Roman" panose="02020603050405020304" charset="0"/>
              </a:rPr>
              <a:t>CONCLUSION</a:t>
            </a:r>
            <a:endParaRPr lang="en-IN" altLang="en-US" dirty="0">
              <a:solidFill>
                <a:schemeClr val="tx2">
                  <a:lumMod val="75000"/>
                </a:schemeClr>
              </a:solidFill>
              <a:latin typeface="Times New Roman" panose="02020603050405020304" charset="0"/>
              <a:cs typeface="Times New Roman" panose="02020603050405020304" charset="0"/>
            </a:endParaRPr>
          </a:p>
        </p:txBody>
      </p:sp>
      <p:sp>
        <p:nvSpPr>
          <p:cNvPr id="195587" name="Rectangle 3"/>
          <p:cNvSpPr>
            <a:spLocks noGrp="1" noChangeArrowheads="1"/>
          </p:cNvSpPr>
          <p:nvPr>
            <p:ph idx="1"/>
          </p:nvPr>
        </p:nvSpPr>
        <p:spPr>
          <a:xfrm>
            <a:off x="1908175" y="1600200"/>
            <a:ext cx="6840538" cy="4781550"/>
          </a:xfrm>
        </p:spPr>
        <p:txBody>
          <a:bodyPr vert="horz" wrap="square" lIns="91440" tIns="45720" rIns="91440" bIns="45720" numCol="1" anchor="t" anchorCtr="0" compatLnSpc="1"/>
          <a:lstStyle/>
          <a:p>
            <a:pPr eaLnBrk="1" hangingPunct="1">
              <a:lnSpc>
                <a:spcPct val="90000"/>
              </a:lnSpc>
              <a:buFont typeface="Wingdings" panose="05000000000000000000" pitchFamily="2" charset="2"/>
              <a:buChar char="Ø"/>
            </a:pPr>
            <a:r>
              <a:rPr lang="en-US" altLang="ru-RU" sz="2400" dirty="0">
                <a:latin typeface="Times New Roman" panose="02020603050405020304" charset="0"/>
                <a:cs typeface="Times New Roman" panose="02020603050405020304" charset="0"/>
              </a:rPr>
              <a:t>Using the dynamic model we can effectively reduce the waiting time of the vehicles.</a:t>
            </a:r>
            <a:endParaRPr lang="en-US" altLang="ru-RU" sz="2400" dirty="0">
              <a:latin typeface="Times New Roman" panose="02020603050405020304" charset="0"/>
              <a:cs typeface="Times New Roman" panose="02020603050405020304" charset="0"/>
            </a:endParaRPr>
          </a:p>
          <a:p>
            <a:pPr>
              <a:lnSpc>
                <a:spcPct val="90000"/>
              </a:lnSpc>
              <a:buFont typeface="Wingdings" panose="05000000000000000000" pitchFamily="2" charset="2"/>
              <a:buChar char="Ø"/>
            </a:pPr>
            <a:r>
              <a:rPr lang="en-US" altLang="ru-RU" sz="2400" dirty="0">
                <a:latin typeface="Times New Roman" panose="02020603050405020304" charset="0"/>
                <a:cs typeface="Times New Roman" panose="02020603050405020304" charset="0"/>
              </a:rPr>
              <a:t>Our proposed Traffic management system with AI improves the performance by over 35% comaparing to Current System.</a:t>
            </a:r>
            <a:endParaRPr lang="en-US" altLang="ru-RU" sz="2400" dirty="0">
              <a:latin typeface="Times New Roman" panose="02020603050405020304" charset="0"/>
              <a:cs typeface="Times New Roman" panose="02020603050405020304" charset="0"/>
            </a:endParaRPr>
          </a:p>
          <a:p>
            <a:pPr eaLnBrk="1" hangingPunct="1">
              <a:lnSpc>
                <a:spcPct val="90000"/>
              </a:lnSpc>
              <a:buFont typeface="Wingdings" panose="05000000000000000000" pitchFamily="2" charset="2"/>
              <a:buChar char="Ø"/>
            </a:pPr>
            <a:r>
              <a:rPr lang="en-US" altLang="ru-RU" sz="2400" dirty="0">
                <a:latin typeface="Times New Roman" panose="02020603050405020304" charset="0"/>
                <a:cs typeface="Times New Roman" panose="02020603050405020304" charset="0"/>
              </a:rPr>
              <a:t>Using the AI model adds an additional functionality to reduce the waiting time of vehicles at their next crossing.</a:t>
            </a:r>
            <a:endParaRPr lang="en-US" altLang="ru-RU" sz="2400" dirty="0">
              <a:latin typeface="Times New Roman" panose="02020603050405020304" charset="0"/>
              <a:cs typeface="Times New Roman" panose="02020603050405020304" charset="0"/>
            </a:endParaRPr>
          </a:p>
          <a:p>
            <a:pPr eaLnBrk="1" hangingPunct="1">
              <a:lnSpc>
                <a:spcPct val="90000"/>
              </a:lnSpc>
              <a:buFont typeface="Wingdings" panose="05000000000000000000" pitchFamily="2" charset="2"/>
              <a:buChar char="Ø"/>
            </a:pPr>
            <a:r>
              <a:rPr lang="en-US" altLang="ru-RU" sz="2400" dirty="0">
                <a:latin typeface="Times New Roman" panose="02020603050405020304" charset="0"/>
                <a:cs typeface="Times New Roman" panose="02020603050405020304" charset="0"/>
              </a:rPr>
              <a:t>Both of these can be implemented using edge computing at the traffic signal itself.</a:t>
            </a:r>
            <a:endParaRPr lang="en-US" altLang="ru-RU" sz="2400" dirty="0">
              <a:latin typeface="Times New Roman" panose="02020603050405020304" charset="0"/>
              <a:cs typeface="Times New Roman" panose="02020603050405020304" charset="0"/>
            </a:endParaRPr>
          </a:p>
          <a:p>
            <a:pPr eaLnBrk="1" hangingPunct="1">
              <a:lnSpc>
                <a:spcPct val="90000"/>
              </a:lnSpc>
              <a:buFont typeface="Wingdings" panose="05000000000000000000" pitchFamily="2" charset="2"/>
              <a:buChar char="Ø"/>
            </a:pPr>
            <a:r>
              <a:rPr lang="en-US" altLang="ru-RU" sz="2400" dirty="0">
                <a:latin typeface="Times New Roman" panose="02020603050405020304" charset="0"/>
                <a:cs typeface="Times New Roman" panose="02020603050405020304" charset="0"/>
              </a:rPr>
              <a:t>It can be implemented with effectively with very little cost.</a:t>
            </a:r>
            <a:endParaRPr lang="en-US" altLang="ru-RU" sz="2400" dirty="0">
              <a:latin typeface="Times New Roman" panose="02020603050405020304" charset="0"/>
              <a:cs typeface="Times New Roman" panose="02020603050405020304" charset="0"/>
            </a:endParaRPr>
          </a:p>
        </p:txBody>
      </p:sp>
      <p:sp>
        <p:nvSpPr>
          <p:cNvPr id="2" name="Дата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BE0EF491-5E7C-4C2E-BA1E-6CAB0DD27B96}" type="datetime1">
              <a:rPr kumimoji="0" lang="en-US" altLang="ru-RU" sz="900" b="0" i="0" u="none" strike="noStrike" kern="1200" cap="none" spc="0" normalizeH="0" baseline="0" noProof="0" smtClean="0">
                <a:ln>
                  <a:noFill/>
                </a:ln>
                <a:solidFill>
                  <a:schemeClr val="tx1"/>
                </a:solidFill>
                <a:effectLst/>
                <a:uLnTx/>
                <a:uFillTx/>
                <a:latin typeface="+mn-lt"/>
                <a:ea typeface="+mn-ea"/>
                <a:cs typeface="+mn-cs"/>
              </a:rPr>
            </a:fld>
            <a:endParaRPr kumimoji="0" lang="ru-RU" altLang="ru-RU" sz="900" b="0" i="0" u="none" strike="noStrike" kern="1200" cap="none" spc="0" normalizeH="0" baseline="0" noProof="0" dirty="0">
              <a:ln>
                <a:noFill/>
              </a:ln>
              <a:solidFill>
                <a:schemeClr val="tx1"/>
              </a:solidFill>
              <a:effectLst/>
              <a:uLnTx/>
              <a:uFillTx/>
              <a:latin typeface="+mn-lt"/>
              <a:ea typeface="+mn-ea"/>
              <a:cs typeface="+mn-cs"/>
            </a:endParaRPr>
          </a:p>
        </p:txBody>
      </p:sp>
      <p:sp>
        <p:nvSpPr>
          <p:cNvPr id="3" name="Нижний колонтитул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ru-RU" sz="900" b="0" i="0" u="none" strike="noStrike" kern="1200" cap="none" spc="0" normalizeH="0" baseline="0" noProof="0">
                <a:ln>
                  <a:noFill/>
                </a:ln>
                <a:solidFill>
                  <a:srgbClr val="1C1C1C"/>
                </a:solidFill>
                <a:effectLst/>
                <a:uLnTx/>
                <a:uFillTx/>
                <a:latin typeface="+mn-lt"/>
                <a:ea typeface="+mn-ea"/>
                <a:cs typeface="+mn-cs"/>
              </a:rPr>
              <a:t>Designed by PoweredTemplate.com</a:t>
            </a:r>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charset="0"/>
                <a:cs typeface="Times New Roman" panose="02020603050405020304" charset="0"/>
              </a:rPr>
              <a:t>                 </a:t>
            </a:r>
            <a:r>
              <a:rPr lang="en-IN" dirty="0">
                <a:solidFill>
                  <a:schemeClr val="tx2">
                    <a:lumMod val="75000"/>
                  </a:schemeClr>
                </a:solidFill>
                <a:latin typeface="Times New Roman" panose="02020603050405020304" charset="0"/>
                <a:cs typeface="Times New Roman" panose="02020603050405020304" charset="0"/>
              </a:rPr>
              <a:t>REFERENCES</a:t>
            </a:r>
            <a:endParaRPr lang="en-IN" dirty="0">
              <a:solidFill>
                <a:schemeClr val="tx2">
                  <a:lumMod val="75000"/>
                </a:schemeClr>
              </a:solidFill>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lstStyle/>
          <a:p>
            <a:r>
              <a:rPr lang="en-IN" sz="1800" dirty="0">
                <a:solidFill>
                  <a:srgbClr val="000000"/>
                </a:solidFill>
                <a:effectLst/>
                <a:latin typeface="Times New Roman" panose="02020603050405020304" charset="0"/>
                <a:cs typeface="Times New Roman" panose="02020603050405020304" charset="0"/>
              </a:rPr>
              <a:t>[1] Anuj Singh, Sachin Sharma, Kamlesh Chandra Purohit, </a:t>
            </a:r>
            <a:r>
              <a:rPr lang="en-IN" sz="1800" dirty="0" err="1">
                <a:solidFill>
                  <a:srgbClr val="000000"/>
                </a:solidFill>
                <a:effectLst/>
                <a:latin typeface="Times New Roman" panose="02020603050405020304" charset="0"/>
                <a:cs typeface="Times New Roman" panose="02020603050405020304" charset="0"/>
              </a:rPr>
              <a:t>Nithin</a:t>
            </a:r>
            <a:r>
              <a:rPr lang="en-IN" sz="1800" dirty="0">
                <a:solidFill>
                  <a:srgbClr val="000000"/>
                </a:solidFill>
                <a:effectLst/>
                <a:latin typeface="Times New Roman" panose="02020603050405020304" charset="0"/>
                <a:cs typeface="Times New Roman" panose="02020603050405020304" charset="0"/>
              </a:rPr>
              <a:t> Kumar K C, “Artificial Intelligence Based Framework For Effective Performance Of Traffic Light Control System” </a:t>
            </a:r>
            <a:endParaRPr lang="en-IN" dirty="0">
              <a:latin typeface="Times New Roman" panose="02020603050405020304" charset="0"/>
              <a:cs typeface="Times New Roman" panose="02020603050405020304" charset="0"/>
            </a:endParaRPr>
          </a:p>
          <a:p>
            <a:r>
              <a:rPr lang="en-IN" sz="1800" dirty="0">
                <a:solidFill>
                  <a:srgbClr val="000000"/>
                </a:solidFill>
                <a:effectLst/>
                <a:latin typeface="Times New Roman" panose="02020603050405020304" charset="0"/>
                <a:cs typeface="Times New Roman" panose="02020603050405020304" charset="0"/>
              </a:rPr>
              <a:t>[2] K.D.S.A. </a:t>
            </a:r>
            <a:r>
              <a:rPr lang="en-IN" sz="1800" dirty="0" err="1">
                <a:solidFill>
                  <a:srgbClr val="000000"/>
                </a:solidFill>
                <a:effectLst/>
                <a:latin typeface="Times New Roman" panose="02020603050405020304" charset="0"/>
                <a:cs typeface="Times New Roman" panose="02020603050405020304" charset="0"/>
              </a:rPr>
              <a:t>Munasinghe</a:t>
            </a:r>
            <a:r>
              <a:rPr lang="en-IN" sz="1800" dirty="0">
                <a:solidFill>
                  <a:srgbClr val="000000"/>
                </a:solidFill>
                <a:effectLst/>
                <a:latin typeface="Times New Roman" panose="02020603050405020304" charset="0"/>
                <a:cs typeface="Times New Roman" panose="02020603050405020304" charset="0"/>
              </a:rPr>
              <a:t>, T.D. </a:t>
            </a:r>
            <a:r>
              <a:rPr lang="en-IN" sz="1800" dirty="0" err="1">
                <a:solidFill>
                  <a:srgbClr val="000000"/>
                </a:solidFill>
                <a:effectLst/>
                <a:latin typeface="Times New Roman" panose="02020603050405020304" charset="0"/>
                <a:cs typeface="Times New Roman" panose="02020603050405020304" charset="0"/>
              </a:rPr>
              <a:t>Wanththegedara</a:t>
            </a:r>
            <a:r>
              <a:rPr lang="en-IN" sz="1800" dirty="0">
                <a:solidFill>
                  <a:srgbClr val="000000"/>
                </a:solidFill>
                <a:effectLst/>
                <a:latin typeface="Times New Roman" panose="02020603050405020304" charset="0"/>
                <a:cs typeface="Times New Roman" panose="02020603050405020304" charset="0"/>
              </a:rPr>
              <a:t>, I.R. </a:t>
            </a:r>
            <a:r>
              <a:rPr lang="en-IN" sz="1800" dirty="0" err="1">
                <a:solidFill>
                  <a:srgbClr val="000000"/>
                </a:solidFill>
                <a:effectLst/>
                <a:latin typeface="Times New Roman" panose="02020603050405020304" charset="0"/>
                <a:cs typeface="Times New Roman" panose="02020603050405020304" charset="0"/>
              </a:rPr>
              <a:t>Wickramasinghe</a:t>
            </a:r>
            <a:r>
              <a:rPr lang="en-IN" sz="1800" dirty="0">
                <a:solidFill>
                  <a:srgbClr val="000000"/>
                </a:solidFill>
                <a:effectLst/>
                <a:latin typeface="Times New Roman" panose="02020603050405020304" charset="0"/>
                <a:cs typeface="Times New Roman" panose="02020603050405020304" charset="0"/>
              </a:rPr>
              <a:t>, H.M.O Herath, </a:t>
            </a:r>
            <a:r>
              <a:rPr lang="en-IN" sz="1800" dirty="0" err="1">
                <a:solidFill>
                  <a:srgbClr val="000000"/>
                </a:solidFill>
                <a:effectLst/>
                <a:latin typeface="Times New Roman" panose="02020603050405020304" charset="0"/>
                <a:cs typeface="Times New Roman" panose="02020603050405020304" charset="0"/>
              </a:rPr>
              <a:t>V.Logeeshan</a:t>
            </a:r>
            <a:r>
              <a:rPr lang="en-IN" sz="1800" dirty="0">
                <a:solidFill>
                  <a:srgbClr val="000000"/>
                </a:solidFill>
                <a:effectLst/>
                <a:latin typeface="Times New Roman" panose="02020603050405020304" charset="0"/>
                <a:cs typeface="Times New Roman" panose="02020603050405020304" charset="0"/>
              </a:rPr>
              <a:t>, “Smart Traffic Light Control System Based On Traffic </a:t>
            </a:r>
            <a:r>
              <a:rPr lang="en-IN" sz="1800" dirty="0" err="1">
                <a:solidFill>
                  <a:srgbClr val="000000"/>
                </a:solidFill>
                <a:effectLst/>
                <a:latin typeface="Times New Roman" panose="02020603050405020304" charset="0"/>
                <a:cs typeface="Times New Roman" panose="02020603050405020304" charset="0"/>
              </a:rPr>
              <a:t>DensityAnd</a:t>
            </a:r>
            <a:r>
              <a:rPr lang="en-IN" sz="1800" dirty="0">
                <a:solidFill>
                  <a:srgbClr val="000000"/>
                </a:solidFill>
                <a:effectLst/>
                <a:latin typeface="Times New Roman" panose="02020603050405020304" charset="0"/>
                <a:cs typeface="Times New Roman" panose="02020603050405020304" charset="0"/>
              </a:rPr>
              <a:t> Emergency Vehicle Detection” </a:t>
            </a:r>
            <a:endParaRPr lang="en-IN" dirty="0">
              <a:latin typeface="Times New Roman" panose="02020603050405020304" charset="0"/>
              <a:cs typeface="Times New Roman" panose="02020603050405020304" charset="0"/>
            </a:endParaRPr>
          </a:p>
          <a:p>
            <a:r>
              <a:rPr lang="en-IN" sz="1800" dirty="0">
                <a:solidFill>
                  <a:srgbClr val="000000"/>
                </a:solidFill>
                <a:effectLst/>
                <a:latin typeface="Times New Roman" panose="02020603050405020304" charset="0"/>
                <a:cs typeface="Times New Roman" panose="02020603050405020304" charset="0"/>
              </a:rPr>
              <a:t>[3] Mihir </a:t>
            </a:r>
            <a:r>
              <a:rPr lang="en-IN" sz="1800" dirty="0" err="1">
                <a:solidFill>
                  <a:srgbClr val="000000"/>
                </a:solidFill>
                <a:effectLst/>
                <a:latin typeface="Times New Roman" panose="02020603050405020304" charset="0"/>
                <a:cs typeface="Times New Roman" panose="02020603050405020304" charset="0"/>
              </a:rPr>
              <a:t>M.Gandhi</a:t>
            </a:r>
            <a:r>
              <a:rPr lang="en-IN" sz="1800" dirty="0">
                <a:solidFill>
                  <a:srgbClr val="000000"/>
                </a:solidFill>
                <a:effectLst/>
                <a:latin typeface="Times New Roman" panose="02020603050405020304" charset="0"/>
                <a:cs typeface="Times New Roman" panose="02020603050405020304" charset="0"/>
              </a:rPr>
              <a:t>, </a:t>
            </a:r>
            <a:r>
              <a:rPr lang="en-IN" sz="1800" dirty="0" err="1">
                <a:solidFill>
                  <a:srgbClr val="000000"/>
                </a:solidFill>
                <a:effectLst/>
                <a:latin typeface="Times New Roman" panose="02020603050405020304" charset="0"/>
                <a:cs typeface="Times New Roman" panose="02020603050405020304" charset="0"/>
              </a:rPr>
              <a:t>Devansh</a:t>
            </a:r>
            <a:r>
              <a:rPr lang="en-IN" sz="1800" dirty="0">
                <a:solidFill>
                  <a:srgbClr val="000000"/>
                </a:solidFill>
                <a:effectLst/>
                <a:latin typeface="Times New Roman" panose="02020603050405020304" charset="0"/>
                <a:cs typeface="Times New Roman" panose="02020603050405020304" charset="0"/>
              </a:rPr>
              <a:t> </a:t>
            </a:r>
            <a:r>
              <a:rPr lang="en-IN" sz="1800" dirty="0" err="1">
                <a:solidFill>
                  <a:srgbClr val="000000"/>
                </a:solidFill>
                <a:effectLst/>
                <a:latin typeface="Times New Roman" panose="02020603050405020304" charset="0"/>
                <a:cs typeface="Times New Roman" panose="02020603050405020304" charset="0"/>
              </a:rPr>
              <a:t>S.Solanki</a:t>
            </a:r>
            <a:r>
              <a:rPr lang="en-IN" sz="1800" dirty="0">
                <a:solidFill>
                  <a:srgbClr val="000000"/>
                </a:solidFill>
                <a:effectLst/>
                <a:latin typeface="Times New Roman" panose="02020603050405020304" charset="0"/>
                <a:cs typeface="Times New Roman" panose="02020603050405020304" charset="0"/>
              </a:rPr>
              <a:t>, </a:t>
            </a:r>
            <a:r>
              <a:rPr lang="en-IN" sz="1800" dirty="0" err="1">
                <a:solidFill>
                  <a:srgbClr val="000000"/>
                </a:solidFill>
                <a:effectLst/>
                <a:latin typeface="Times New Roman" panose="02020603050405020304" charset="0"/>
                <a:cs typeface="Times New Roman" panose="02020603050405020304" charset="0"/>
              </a:rPr>
              <a:t>Rutwij</a:t>
            </a:r>
            <a:r>
              <a:rPr lang="en-IN" sz="1800" dirty="0">
                <a:solidFill>
                  <a:srgbClr val="000000"/>
                </a:solidFill>
                <a:effectLst/>
                <a:latin typeface="Times New Roman" panose="02020603050405020304" charset="0"/>
                <a:cs typeface="Times New Roman" panose="02020603050405020304" charset="0"/>
              </a:rPr>
              <a:t> S. </a:t>
            </a:r>
            <a:r>
              <a:rPr lang="en-IN" sz="1800" dirty="0" err="1">
                <a:solidFill>
                  <a:srgbClr val="000000"/>
                </a:solidFill>
                <a:effectLst/>
                <a:latin typeface="Times New Roman" panose="02020603050405020304" charset="0"/>
                <a:cs typeface="Times New Roman" panose="02020603050405020304" charset="0"/>
              </a:rPr>
              <a:t>Daptar</a:t>
            </a:r>
            <a:r>
              <a:rPr lang="en-IN" sz="1800" dirty="0">
                <a:solidFill>
                  <a:srgbClr val="000000"/>
                </a:solidFill>
                <a:effectLst/>
                <a:latin typeface="Times New Roman" panose="02020603050405020304" charset="0"/>
                <a:cs typeface="Times New Roman" panose="02020603050405020304" charset="0"/>
              </a:rPr>
              <a:t>, Nirmala Shinde </a:t>
            </a:r>
            <a:r>
              <a:rPr lang="en-IN" sz="1800" dirty="0" err="1">
                <a:solidFill>
                  <a:srgbClr val="000000"/>
                </a:solidFill>
                <a:effectLst/>
                <a:latin typeface="Times New Roman" panose="02020603050405020304" charset="0"/>
                <a:cs typeface="Times New Roman" panose="02020603050405020304" charset="0"/>
              </a:rPr>
              <a:t>Balookar</a:t>
            </a:r>
            <a:r>
              <a:rPr lang="en-IN" sz="1800" dirty="0">
                <a:solidFill>
                  <a:srgbClr val="000000"/>
                </a:solidFill>
                <a:effectLst/>
                <a:latin typeface="Times New Roman" panose="02020603050405020304" charset="0"/>
                <a:cs typeface="Times New Roman" panose="02020603050405020304" charset="0"/>
              </a:rPr>
              <a:t>, “Smart Control Of Traffic Light Using Artificial Intelligence” </a:t>
            </a:r>
            <a:endParaRPr lang="en-IN" dirty="0">
              <a:latin typeface="Times New Roman" panose="02020603050405020304" charset="0"/>
              <a:cs typeface="Times New Roman" panose="02020603050405020304" charset="0"/>
            </a:endParaRPr>
          </a:p>
          <a:p>
            <a:r>
              <a:rPr lang="en-IN" sz="1800" dirty="0">
                <a:solidFill>
                  <a:srgbClr val="000000"/>
                </a:solidFill>
                <a:effectLst/>
                <a:latin typeface="Times New Roman" panose="02020603050405020304" charset="0"/>
                <a:cs typeface="Times New Roman" panose="02020603050405020304" charset="0"/>
              </a:rPr>
              <a:t>[4] S.S Zia, </a:t>
            </a:r>
            <a:r>
              <a:rPr lang="en-IN" sz="1800" dirty="0" err="1">
                <a:solidFill>
                  <a:srgbClr val="000000"/>
                </a:solidFill>
                <a:effectLst/>
                <a:latin typeface="Times New Roman" panose="02020603050405020304" charset="0"/>
                <a:cs typeface="Times New Roman" panose="02020603050405020304" charset="0"/>
              </a:rPr>
              <a:t>M.Mala</a:t>
            </a:r>
            <a:r>
              <a:rPr lang="en-IN" sz="1800" dirty="0">
                <a:solidFill>
                  <a:srgbClr val="000000"/>
                </a:solidFill>
                <a:effectLst/>
                <a:latin typeface="Times New Roman" panose="02020603050405020304" charset="0"/>
                <a:cs typeface="Times New Roman" panose="02020603050405020304" charset="0"/>
              </a:rPr>
              <a:t>, </a:t>
            </a:r>
            <a:r>
              <a:rPr lang="en-IN" sz="1800" dirty="0" err="1">
                <a:solidFill>
                  <a:srgbClr val="000000"/>
                </a:solidFill>
                <a:effectLst/>
                <a:latin typeface="Times New Roman" panose="02020603050405020304" charset="0"/>
                <a:cs typeface="Times New Roman" panose="02020603050405020304" charset="0"/>
              </a:rPr>
              <a:t>M.Tahir</a:t>
            </a:r>
            <a:r>
              <a:rPr lang="en-IN" sz="1800" dirty="0">
                <a:solidFill>
                  <a:srgbClr val="000000"/>
                </a:solidFill>
                <a:effectLst/>
                <a:latin typeface="Times New Roman" panose="02020603050405020304" charset="0"/>
                <a:cs typeface="Times New Roman" panose="02020603050405020304" charset="0"/>
              </a:rPr>
              <a:t>, T.J.A. Mughal, </a:t>
            </a:r>
            <a:r>
              <a:rPr lang="en-IN" sz="1800" dirty="0" err="1">
                <a:solidFill>
                  <a:srgbClr val="000000"/>
                </a:solidFill>
                <a:effectLst/>
                <a:latin typeface="Times New Roman" panose="02020603050405020304" charset="0"/>
                <a:cs typeface="Times New Roman" panose="02020603050405020304" charset="0"/>
              </a:rPr>
              <a:t>T.Mubeen</a:t>
            </a:r>
            <a:r>
              <a:rPr lang="en-IN" sz="1800" dirty="0">
                <a:solidFill>
                  <a:srgbClr val="000000"/>
                </a:solidFill>
                <a:effectLst/>
                <a:latin typeface="Times New Roman" panose="02020603050405020304" charset="0"/>
                <a:cs typeface="Times New Roman" panose="02020603050405020304" charset="0"/>
              </a:rPr>
              <a:t>, “Smart Traffic Light System By Using Artificial Intelligence” [5] </a:t>
            </a:r>
            <a:r>
              <a:rPr lang="en-IN" sz="1800" dirty="0" err="1">
                <a:solidFill>
                  <a:srgbClr val="000000"/>
                </a:solidFill>
                <a:effectLst/>
                <a:latin typeface="Times New Roman" panose="02020603050405020304" charset="0"/>
                <a:cs typeface="Times New Roman" panose="02020603050405020304" charset="0"/>
              </a:rPr>
              <a:t>P.Shamugapriya</a:t>
            </a:r>
            <a:r>
              <a:rPr lang="en-IN" sz="1800" dirty="0">
                <a:solidFill>
                  <a:srgbClr val="000000"/>
                </a:solidFill>
                <a:effectLst/>
                <a:latin typeface="Times New Roman" panose="02020603050405020304" charset="0"/>
                <a:cs typeface="Times New Roman" panose="02020603050405020304" charset="0"/>
              </a:rPr>
              <a:t>, </a:t>
            </a:r>
            <a:r>
              <a:rPr lang="en-IN" sz="1800" dirty="0" err="1">
                <a:solidFill>
                  <a:srgbClr val="000000"/>
                </a:solidFill>
                <a:effectLst/>
                <a:latin typeface="Times New Roman" panose="02020603050405020304" charset="0"/>
                <a:cs typeface="Times New Roman" panose="02020603050405020304" charset="0"/>
              </a:rPr>
              <a:t>Kaheboya</a:t>
            </a:r>
            <a:r>
              <a:rPr lang="en-IN" sz="1800" dirty="0">
                <a:solidFill>
                  <a:srgbClr val="000000"/>
                </a:solidFill>
                <a:effectLst/>
                <a:latin typeface="Times New Roman" panose="02020603050405020304" charset="0"/>
                <a:cs typeface="Times New Roman" panose="02020603050405020304" charset="0"/>
              </a:rPr>
              <a:t> Hari </a:t>
            </a:r>
            <a:r>
              <a:rPr lang="en-IN" sz="1800" dirty="0" err="1">
                <a:solidFill>
                  <a:srgbClr val="000000"/>
                </a:solidFill>
                <a:effectLst/>
                <a:latin typeface="Times New Roman" panose="02020603050405020304" charset="0"/>
                <a:cs typeface="Times New Roman" panose="02020603050405020304" charset="0"/>
              </a:rPr>
              <a:t>Shankar,Kandikattu</a:t>
            </a:r>
            <a:r>
              <a:rPr lang="en-IN" sz="1800" dirty="0">
                <a:solidFill>
                  <a:srgbClr val="000000"/>
                </a:solidFill>
                <a:effectLst/>
                <a:latin typeface="Times New Roman" panose="02020603050405020304" charset="0"/>
                <a:cs typeface="Times New Roman" panose="02020603050405020304" charset="0"/>
              </a:rPr>
              <a:t> </a:t>
            </a:r>
            <a:r>
              <a:rPr lang="en-IN" sz="1800" dirty="0" err="1">
                <a:solidFill>
                  <a:srgbClr val="000000"/>
                </a:solidFill>
                <a:effectLst/>
                <a:latin typeface="Times New Roman" panose="02020603050405020304" charset="0"/>
                <a:cs typeface="Times New Roman" panose="02020603050405020304" charset="0"/>
              </a:rPr>
              <a:t>Mallikarjuna</a:t>
            </a:r>
            <a:r>
              <a:rPr lang="en-IN" sz="1800" dirty="0">
                <a:solidFill>
                  <a:srgbClr val="000000"/>
                </a:solidFill>
                <a:effectLst/>
                <a:latin typeface="Times New Roman" panose="02020603050405020304" charset="0"/>
                <a:cs typeface="Times New Roman" panose="02020603050405020304" charset="0"/>
              </a:rPr>
              <a:t>, “Smart Control Of Traffic Light Using Artificial Intelligence</a:t>
            </a:r>
            <a:r>
              <a:rPr lang="en-IN" sz="1800" dirty="0">
                <a:solidFill>
                  <a:srgbClr val="000000"/>
                </a:solidFill>
                <a:effectLst/>
                <a:latin typeface="Times New Roman" panose="02020603050405020304" charset="0"/>
              </a:rPr>
              <a:t>” </a:t>
            </a:r>
            <a:endParaRPr lang="en-IN" dirty="0"/>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11C6DA-CF9A-4256-A6A9-D39B221A80C4}" type="datetime1">
              <a:rPr kumimoji="0" lang="en-US" altLang="ru-RU" sz="900" b="0" i="0" u="none" strike="noStrike" kern="1200" cap="none" spc="0" normalizeH="0" baseline="0" noProof="0" smtClean="0">
                <a:ln>
                  <a:noFill/>
                </a:ln>
                <a:solidFill>
                  <a:srgbClr val="1C1C1C"/>
                </a:solidFill>
                <a:effectLst/>
                <a:uLnTx/>
                <a:uFillTx/>
                <a:latin typeface="+mn-lt"/>
                <a:ea typeface="+mn-ea"/>
                <a:cs typeface="+mn-cs"/>
              </a:rPr>
            </a:fld>
            <a:endParaRPr kumimoji="0" lang="ru-RU" altLang="ru-RU" sz="900" b="0" i="0" u="none" strike="noStrike" kern="1200" cap="none" spc="0" normalizeH="0" baseline="0" noProof="0">
              <a:ln>
                <a:noFill/>
              </a:ln>
              <a:solidFill>
                <a:srgbClr val="1C1C1C"/>
              </a:solidFill>
              <a:effectLst/>
              <a:uLnTx/>
              <a:uFillTx/>
              <a:latin typeface="+mn-lt"/>
              <a:ea typeface="+mn-ea"/>
              <a:cs typeface="+mn-cs"/>
            </a:endParaRPr>
          </a:p>
        </p:txBody>
      </p:sp>
    </p:spTree>
  </p:cSld>
  <p:clrMapOvr>
    <a:masterClrMapping/>
  </p:clrMapOvr>
</p:sld>
</file>

<file path=ppt/theme/theme1.xml><?xml version="1.0" encoding="utf-8"?>
<a:theme xmlns:a="http://schemas.openxmlformats.org/drawingml/2006/main" name="template">
  <a:themeElements>
    <a:clrScheme name="Traffic-Light">
      <a:dk1>
        <a:srgbClr val="000000"/>
      </a:dk1>
      <a:lt1>
        <a:srgbClr val="0B3318"/>
      </a:lt1>
      <a:dk2>
        <a:srgbClr val="499983"/>
      </a:dk2>
      <a:lt2>
        <a:srgbClr val="C00000"/>
      </a:lt2>
      <a:accent1>
        <a:srgbClr val="ECC934"/>
      </a:accent1>
      <a:accent2>
        <a:srgbClr val="E20000"/>
      </a:accent2>
      <a:accent3>
        <a:srgbClr val="BC6332"/>
      </a:accent3>
      <a:accent4>
        <a:srgbClr val="FFA615"/>
      </a:accent4>
      <a:accent5>
        <a:srgbClr val="7A6C52"/>
      </a:accent5>
      <a:accent6>
        <a:srgbClr val="166430"/>
      </a:accent6>
      <a:hlink>
        <a:srgbClr val="B6A299"/>
      </a:hlink>
      <a:folHlink>
        <a:srgbClr val="746155"/>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ru-RU" altLang="ru-RU" sz="18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ru-RU" altLang="ru-RU" sz="18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template 1">
        <a:dk1>
          <a:srgbClr val="4D4D4D"/>
        </a:dk1>
        <a:lt1>
          <a:srgbClr val="FFFFFF"/>
        </a:lt1>
        <a:dk2>
          <a:srgbClr val="000000"/>
        </a:dk2>
        <a:lt2>
          <a:srgbClr val="D5E1F3"/>
        </a:lt2>
        <a:accent1>
          <a:srgbClr val="BC4417"/>
        </a:accent1>
        <a:accent2>
          <a:srgbClr val="CF9C1C"/>
        </a:accent2>
        <a:accent3>
          <a:srgbClr val="FFFFFF"/>
        </a:accent3>
        <a:accent4>
          <a:srgbClr val="404040"/>
        </a:accent4>
        <a:accent5>
          <a:srgbClr val="DAB0AB"/>
        </a:accent5>
        <a:accent6>
          <a:srgbClr val="BB8D18"/>
        </a:accent6>
        <a:hlink>
          <a:srgbClr val="E8C97C"/>
        </a:hlink>
        <a:folHlink>
          <a:srgbClr val="EAEAEA"/>
        </a:folHlink>
      </a:clrScheme>
      <a:clrMap bg1="lt1" tx1="dk1" bg2="lt2" tx2="dk2" accent1="accent1" accent2="accent2" accent3="accent3" accent4="accent4" accent5="accent5" accent6="accent6" hlink="hlink" folHlink="folHlink"/>
    </a:extraClrScheme>
    <a:extraClrScheme>
      <a:clrScheme name="template 2">
        <a:dk1>
          <a:srgbClr val="4D4D4D"/>
        </a:dk1>
        <a:lt1>
          <a:srgbClr val="FFFFFF"/>
        </a:lt1>
        <a:dk2>
          <a:srgbClr val="000000"/>
        </a:dk2>
        <a:lt2>
          <a:srgbClr val="986615"/>
        </a:lt2>
        <a:accent1>
          <a:srgbClr val="BF4413"/>
        </a:accent1>
        <a:accent2>
          <a:srgbClr val="FFAB21"/>
        </a:accent2>
        <a:accent3>
          <a:srgbClr val="FFFFFF"/>
        </a:accent3>
        <a:accent4>
          <a:srgbClr val="404040"/>
        </a:accent4>
        <a:accent5>
          <a:srgbClr val="DCB0AA"/>
        </a:accent5>
        <a:accent6>
          <a:srgbClr val="E79B1D"/>
        </a:accent6>
        <a:hlink>
          <a:srgbClr val="C5A379"/>
        </a:hlink>
        <a:folHlink>
          <a:srgbClr val="EAEAEA"/>
        </a:folHlink>
      </a:clrScheme>
      <a:clrMap bg1="lt1" tx1="dk1" bg2="lt2" tx2="dk2" accent1="accent1" accent2="accent2" accent3="accent3" accent4="accent4" accent5="accent5" accent6="accent6" hlink="hlink" folHlink="folHlink"/>
    </a:extraClrScheme>
    <a:extraClrScheme>
      <a:clrScheme name="template 3">
        <a:dk1>
          <a:srgbClr val="4D4D4D"/>
        </a:dk1>
        <a:lt1>
          <a:srgbClr val="FFFFFF"/>
        </a:lt1>
        <a:dk2>
          <a:srgbClr val="000000"/>
        </a:dk2>
        <a:lt2>
          <a:srgbClr val="4A1B17"/>
        </a:lt2>
        <a:accent1>
          <a:srgbClr val="C66C00"/>
        </a:accent1>
        <a:accent2>
          <a:srgbClr val="FED416"/>
        </a:accent2>
        <a:accent3>
          <a:srgbClr val="FFFFFF"/>
        </a:accent3>
        <a:accent4>
          <a:srgbClr val="404040"/>
        </a:accent4>
        <a:accent5>
          <a:srgbClr val="DFBAAA"/>
        </a:accent5>
        <a:accent6>
          <a:srgbClr val="E6C013"/>
        </a:accent6>
        <a:hlink>
          <a:srgbClr val="FFDE93"/>
        </a:hlink>
        <a:folHlink>
          <a:srgbClr val="EAEAEA"/>
        </a:folHlink>
      </a:clrScheme>
      <a:clrMap bg1="lt1" tx1="dk1" bg2="lt2" tx2="dk2" accent1="accent1" accent2="accent2" accent3="accent3" accent4="accent4" accent5="accent5" accent6="accent6" hlink="hlink" folHlink="folHlink"/>
    </a:extraClrScheme>
    <a:extraClrScheme>
      <a:clrScheme name="template 4">
        <a:dk1>
          <a:srgbClr val="4D4D4D"/>
        </a:dk1>
        <a:lt1>
          <a:srgbClr val="FFFFFF"/>
        </a:lt1>
        <a:dk2>
          <a:srgbClr val="000000"/>
        </a:dk2>
        <a:lt2>
          <a:srgbClr val="9B6902"/>
        </a:lt2>
        <a:accent1>
          <a:srgbClr val="C75E00"/>
        </a:accent1>
        <a:accent2>
          <a:srgbClr val="FED416"/>
        </a:accent2>
        <a:accent3>
          <a:srgbClr val="FFFFFF"/>
        </a:accent3>
        <a:accent4>
          <a:srgbClr val="404040"/>
        </a:accent4>
        <a:accent5>
          <a:srgbClr val="E0B6AA"/>
        </a:accent5>
        <a:accent6>
          <a:srgbClr val="E6C013"/>
        </a:accent6>
        <a:hlink>
          <a:srgbClr val="EE6600"/>
        </a:hlink>
        <a:folHlink>
          <a:srgbClr val="EAEAEA"/>
        </a:folHlink>
      </a:clrScheme>
      <a:clrMap bg1="lt1" tx1="dk1" bg2="lt2" tx2="dk2" accent1="accent1" accent2="accent2" accent3="accent3" accent4="accent4" accent5="accent5" accent6="accent6" hlink="hlink" folHlink="folHlink"/>
    </a:extraClrScheme>
    <a:extraClrScheme>
      <a:clrScheme name="template 5">
        <a:dk1>
          <a:srgbClr val="4D4D4D"/>
        </a:dk1>
        <a:lt1>
          <a:srgbClr val="FFFFFF"/>
        </a:lt1>
        <a:dk2>
          <a:srgbClr val="000000"/>
        </a:dk2>
        <a:lt2>
          <a:srgbClr val="570301"/>
        </a:lt2>
        <a:accent1>
          <a:srgbClr val="D37E00"/>
        </a:accent1>
        <a:accent2>
          <a:srgbClr val="F5CB03"/>
        </a:accent2>
        <a:accent3>
          <a:srgbClr val="FFFFFF"/>
        </a:accent3>
        <a:accent4>
          <a:srgbClr val="404040"/>
        </a:accent4>
        <a:accent5>
          <a:srgbClr val="E6C0AA"/>
        </a:accent5>
        <a:accent6>
          <a:srgbClr val="DEB802"/>
        </a:accent6>
        <a:hlink>
          <a:srgbClr val="D86001"/>
        </a:hlink>
        <a:folHlink>
          <a:srgbClr val="EAEAEA"/>
        </a:folHlink>
      </a:clrScheme>
      <a:clrMap bg1="lt1" tx1="dk1" bg2="lt2" tx2="dk2" accent1="accent1" accent2="accent2" accent3="accent3" accent4="accent4" accent5="accent5" accent6="accent6" hlink="hlink" folHlink="folHlink"/>
    </a:extraClrScheme>
    <a:extraClrScheme>
      <a:clrScheme name="template 6">
        <a:dk1>
          <a:srgbClr val="4D4D4D"/>
        </a:dk1>
        <a:lt1>
          <a:srgbClr val="FFFFFF"/>
        </a:lt1>
        <a:dk2>
          <a:srgbClr val="000000"/>
        </a:dk2>
        <a:lt2>
          <a:srgbClr val="713C0C"/>
        </a:lt2>
        <a:accent1>
          <a:srgbClr val="E4B058"/>
        </a:accent1>
        <a:accent2>
          <a:srgbClr val="FDD912"/>
        </a:accent2>
        <a:accent3>
          <a:srgbClr val="FFFFFF"/>
        </a:accent3>
        <a:accent4>
          <a:srgbClr val="404040"/>
        </a:accent4>
        <a:accent5>
          <a:srgbClr val="EFD4B4"/>
        </a:accent5>
        <a:accent6>
          <a:srgbClr val="E5C40F"/>
        </a:accent6>
        <a:hlink>
          <a:srgbClr val="E06301"/>
        </a:hlink>
        <a:folHlink>
          <a:srgbClr val="EAEAEA"/>
        </a:folHlink>
      </a:clrScheme>
      <a:clrMap bg1="lt1" tx1="dk1" bg2="lt2" tx2="dk2" accent1="accent1" accent2="accent2" accent3="accent3" accent4="accent4" accent5="accent5" accent6="accent6" hlink="hlink" folHlink="folHlink"/>
    </a:extraClrScheme>
    <a:extraClrScheme>
      <a:clrScheme name="template 7">
        <a:dk1>
          <a:srgbClr val="4D4D4D"/>
        </a:dk1>
        <a:lt1>
          <a:srgbClr val="FFFFFF"/>
        </a:lt1>
        <a:dk2>
          <a:srgbClr val="000000"/>
        </a:dk2>
        <a:lt2>
          <a:srgbClr val="953900"/>
        </a:lt2>
        <a:accent1>
          <a:srgbClr val="B65300"/>
        </a:accent1>
        <a:accent2>
          <a:srgbClr val="CE6A00"/>
        </a:accent2>
        <a:accent3>
          <a:srgbClr val="FFFFFF"/>
        </a:accent3>
        <a:accent4>
          <a:srgbClr val="404040"/>
        </a:accent4>
        <a:accent5>
          <a:srgbClr val="D7B3AA"/>
        </a:accent5>
        <a:accent6>
          <a:srgbClr val="BA5F00"/>
        </a:accent6>
        <a:hlink>
          <a:srgbClr val="F0A806"/>
        </a:hlink>
        <a:folHlink>
          <a:srgbClr val="FFE6CD"/>
        </a:folHlink>
      </a:clrScheme>
      <a:clrMap bg1="lt1" tx1="dk1" bg2="lt2" tx2="dk2" accent1="accent1" accent2="accent2" accent3="accent3" accent4="accent4" accent5="accent5" accent6="accent6" hlink="hlink" folHlink="folHlink"/>
    </a:extraClrScheme>
    <a:extraClrScheme>
      <a:clrScheme name="template 8">
        <a:dk1>
          <a:srgbClr val="4D4D4D"/>
        </a:dk1>
        <a:lt1>
          <a:srgbClr val="FFFFFF"/>
        </a:lt1>
        <a:dk2>
          <a:srgbClr val="000000"/>
        </a:dk2>
        <a:lt2>
          <a:srgbClr val="D87200"/>
        </a:lt2>
        <a:accent1>
          <a:srgbClr val="E29B07"/>
        </a:accent1>
        <a:accent2>
          <a:srgbClr val="EDBF03"/>
        </a:accent2>
        <a:accent3>
          <a:srgbClr val="FFFFFF"/>
        </a:accent3>
        <a:accent4>
          <a:srgbClr val="404040"/>
        </a:accent4>
        <a:accent5>
          <a:srgbClr val="EECBAA"/>
        </a:accent5>
        <a:accent6>
          <a:srgbClr val="D7AD02"/>
        </a:accent6>
        <a:hlink>
          <a:srgbClr val="7CA43F"/>
        </a:hlink>
        <a:folHlink>
          <a:srgbClr val="FFE6CD"/>
        </a:folHlink>
      </a:clrScheme>
      <a:clrMap bg1="lt1" tx1="dk1" bg2="lt2" tx2="dk2" accent1="accent1" accent2="accent2" accent3="accent3" accent4="accent4" accent5="accent5" accent6="accent6" hlink="hlink" folHlink="folHlink"/>
    </a:extraClrScheme>
    <a:extraClrScheme>
      <a:clrScheme name="template 9">
        <a:dk1>
          <a:srgbClr val="4D4D4D"/>
        </a:dk1>
        <a:lt1>
          <a:srgbClr val="FFFFFF"/>
        </a:lt1>
        <a:dk2>
          <a:srgbClr val="000000"/>
        </a:dk2>
        <a:lt2>
          <a:srgbClr val="D24D06"/>
        </a:lt2>
        <a:accent1>
          <a:srgbClr val="E59709"/>
        </a:accent1>
        <a:accent2>
          <a:srgbClr val="E9AC24"/>
        </a:accent2>
        <a:accent3>
          <a:srgbClr val="FFFFFF"/>
        </a:accent3>
        <a:accent4>
          <a:srgbClr val="404040"/>
        </a:accent4>
        <a:accent5>
          <a:srgbClr val="F0C9AA"/>
        </a:accent5>
        <a:accent6>
          <a:srgbClr val="D39B20"/>
        </a:accent6>
        <a:hlink>
          <a:srgbClr val="F7B80B"/>
        </a:hlink>
        <a:folHlink>
          <a:srgbClr val="FFE6CD"/>
        </a:folHlink>
      </a:clrScheme>
      <a:clrMap bg1="lt1" tx1="dk1" bg2="lt2" tx2="dk2" accent1="accent1" accent2="accent2" accent3="accent3" accent4="accent4" accent5="accent5" accent6="accent6" hlink="hlink" folHlink="folHlink"/>
    </a:extraClrScheme>
    <a:extraClrScheme>
      <a:clrScheme name="template 10">
        <a:dk1>
          <a:srgbClr val="4D4D4D"/>
        </a:dk1>
        <a:lt1>
          <a:srgbClr val="FFFFFF"/>
        </a:lt1>
        <a:dk2>
          <a:srgbClr val="000000"/>
        </a:dk2>
        <a:lt2>
          <a:srgbClr val="CD5003"/>
        </a:lt2>
        <a:accent1>
          <a:srgbClr val="419DCF"/>
        </a:accent1>
        <a:accent2>
          <a:srgbClr val="BC1F1F"/>
        </a:accent2>
        <a:accent3>
          <a:srgbClr val="FFFFFF"/>
        </a:accent3>
        <a:accent4>
          <a:srgbClr val="404040"/>
        </a:accent4>
        <a:accent5>
          <a:srgbClr val="B0CCE4"/>
        </a:accent5>
        <a:accent6>
          <a:srgbClr val="AA1B1B"/>
        </a:accent6>
        <a:hlink>
          <a:srgbClr val="FFE42F"/>
        </a:hlink>
        <a:folHlink>
          <a:srgbClr val="FFE6CD"/>
        </a:folHlink>
      </a:clrScheme>
      <a:clrMap bg1="lt1" tx1="dk1" bg2="lt2" tx2="dk2" accent1="accent1" accent2="accent2" accent3="accent3" accent4="accent4" accent5="accent5" accent6="accent6" hlink="hlink" folHlink="folHlink"/>
    </a:extraClrScheme>
    <a:extraClrScheme>
      <a:clrScheme name="template 11">
        <a:dk1>
          <a:srgbClr val="4D4D4D"/>
        </a:dk1>
        <a:lt1>
          <a:srgbClr val="FFFFFF"/>
        </a:lt1>
        <a:dk2>
          <a:srgbClr val="000000"/>
        </a:dk2>
        <a:lt2>
          <a:srgbClr val="DF2905"/>
        </a:lt2>
        <a:accent1>
          <a:srgbClr val="D05203"/>
        </a:accent1>
        <a:accent2>
          <a:srgbClr val="72A3E1"/>
        </a:accent2>
        <a:accent3>
          <a:srgbClr val="FFFFFF"/>
        </a:accent3>
        <a:accent4>
          <a:srgbClr val="404040"/>
        </a:accent4>
        <a:accent5>
          <a:srgbClr val="E4B3AA"/>
        </a:accent5>
        <a:accent6>
          <a:srgbClr val="6793CC"/>
        </a:accent6>
        <a:hlink>
          <a:srgbClr val="F3A105"/>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Traffic-Light">
      <a:dk1>
        <a:srgbClr val="000000"/>
      </a:dk1>
      <a:lt1>
        <a:srgbClr val="0B3318"/>
      </a:lt1>
      <a:dk2>
        <a:srgbClr val="499983"/>
      </a:dk2>
      <a:lt2>
        <a:srgbClr val="C00000"/>
      </a:lt2>
      <a:accent1>
        <a:srgbClr val="ECC934"/>
      </a:accent1>
      <a:accent2>
        <a:srgbClr val="E20000"/>
      </a:accent2>
      <a:accent3>
        <a:srgbClr val="BC6332"/>
      </a:accent3>
      <a:accent4>
        <a:srgbClr val="FFA615"/>
      </a:accent4>
      <a:accent5>
        <a:srgbClr val="7A6C52"/>
      </a:accent5>
      <a:accent6>
        <a:srgbClr val="166430"/>
      </a:accent6>
      <a:hlink>
        <a:srgbClr val="B6A299"/>
      </a:hlink>
      <a:folHlink>
        <a:srgbClr val="746155"/>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ru-RU" altLang="ru-RU" sz="18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ru-RU" altLang="ru-RU" sz="18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7387</Words>
  <Application>WPS Presentation</Application>
  <PresentationFormat>On-screen Show (4:3)</PresentationFormat>
  <Paragraphs>197</Paragraphs>
  <Slides>18</Slides>
  <Notes>0</Notes>
  <HiddenSlides>0</HiddenSlides>
  <MMClips>0</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18</vt:i4>
      </vt:variant>
    </vt:vector>
  </HeadingPairs>
  <TitlesOfParts>
    <vt:vector size="35" baseType="lpstr">
      <vt:lpstr>Arial</vt:lpstr>
      <vt:lpstr>SimSun</vt:lpstr>
      <vt:lpstr>Wingdings</vt:lpstr>
      <vt:lpstr>Georgia</vt:lpstr>
      <vt:lpstr>Algerian</vt:lpstr>
      <vt:lpstr>Roboto</vt:lpstr>
      <vt:lpstr>Times New Roman</vt:lpstr>
      <vt:lpstr>Roboto light</vt:lpstr>
      <vt:lpstr>Söhne</vt:lpstr>
      <vt:lpstr>Wingdings</vt:lpstr>
      <vt:lpstr>Times New Roman</vt:lpstr>
      <vt:lpstr>Calibri</vt:lpstr>
      <vt:lpstr>Microsoft YaHei</vt:lpstr>
      <vt:lpstr>Arial Unicode MS</vt:lpstr>
      <vt:lpstr>Segoe Print</vt:lpstr>
      <vt:lpstr>template</vt:lpstr>
      <vt:lpstr>Custom Design</vt:lpstr>
      <vt:lpstr>SMART CONTROL OF TRAFFIC LIGHTS  USING ARTIFICIAL  INTELLIGENCE  M YAMINI SARASWATHI-160122737149 R KRISHNAVENI-160122737157 V VAISHNAVI DEVI-160122737165 P VISISHTA-160122737167 UNDER THE GUIDANCE OF: Mr. B. Harish Goud Assistant Professor IT Department   </vt:lpstr>
      <vt:lpstr>                  AGENDA</vt:lpstr>
      <vt:lpstr>                              ABSTRACT</vt:lpstr>
      <vt:lpstr>                         INTRODUCTION</vt:lpstr>
      <vt:lpstr>               LITERATURE SURVEY</vt:lpstr>
      <vt:lpstr>              PROBLEM STATEMENT</vt:lpstr>
      <vt:lpstr>               EXISTING SYSTEMS</vt:lpstr>
      <vt:lpstr>  DRAWBACKS OF CUSTOMARY SOLUTIONS</vt:lpstr>
      <vt:lpstr> STEP BY STEP FLOWCHART OF PROPOSED SYSTEM</vt:lpstr>
      <vt:lpstr>                         PROPOSED SYSTEM</vt:lpstr>
      <vt:lpstr>PowerPoint 演示文稿</vt:lpstr>
      <vt:lpstr>PowerPoint 演示文稿</vt:lpstr>
      <vt:lpstr>ADVANTAGES OF PROPOSED SYSTEM</vt:lpstr>
      <vt:lpstr>                             RESULTS</vt:lpstr>
      <vt:lpstr>                 </vt:lpstr>
      <vt:lpstr>PowerPoint 演示文稿</vt:lpstr>
      <vt:lpstr>                   CONCLUSION</vt:lpstr>
      <vt:lpstr>                 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of Presentation</dc:title>
  <dc:creator>Irina</dc:creator>
  <cp:lastModifiedBy>Varsh</cp:lastModifiedBy>
  <cp:revision>59</cp:revision>
  <dcterms:created xsi:type="dcterms:W3CDTF">2018-10-26T15:26:00Z</dcterms:created>
  <dcterms:modified xsi:type="dcterms:W3CDTF">2024-06-21T07:32:26Z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1BFE5A39B98E47588EB581EF45DEE0E7_11</vt:lpwstr>
  </property>
  <property fmtid="{D5CDD505-2E9C-101B-9397-08002B2CF9AE}" pid="3" name="KSOProductBuildVer">
    <vt:lpwstr>1033-12.2.0.17119</vt:lpwstr>
  </property>
</Properties>
</file>